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faculty panel. We are S. Karpagam (24BDS1210) and Shruti Chaturvedi (24BDS1003). Welcome to our Review 2 presentation for LoanWiser: Personalized Loan Eligibility &amp; Financial Risk Analysis Using R. In Review 1, we proposed an end-to-end framework integrating applicant profiling, financial solvency formulas, and machine learning in R. Today, we demonstrate the actual completed, runnable system, trained on the official Kaggle Loan Approval Prediction dataset, complete with empirical cross-validation benchmarks and a live 10-tab Shiny dashboard.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2, we track our progress since Review 1. As shown in the comparative table, every single module proposed during Review 1 has now been completely implemented, verified, and integrated. Crucially, instead of relying on synthetic toy data, we integrated the real Kaggle Loan Approval Prediction dataset with 4,269 applicants. We implemented deterministic financial formulas, trained three distinct ML models with stratified 5-fold cross-validation, and developed a complete 10-tab R Shiny dashboard.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illustrates the actual system architecture implemented across four discrete stages. In Stage 1, R/load_data.R ingests the Kaggle training dataset, checks schema validity, and trims whitespace. In Stage 2, R/data_preprocessing.R performs stratified 80/20 train/test splitting and computes imputation statistics strictly from the training set, eliminating data leakage. R/feature_engineering.R calculates 13 derived metrics. In Stage 3, R/financial_calculations.R handles exact EMI math, while R/ml_models.R trains Logistic Regression, Random Forest, and XGBoost with 5-fold CV. Finally, Stage 4 in app.R connects everything into an interactive Shiny dashboard.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details our verified technology stack. We used R 4.6.1 as the foundational programming language. For machine learning, we utilized randomForest, xgboost, and pROC for ROC-AUC analysis. For user interface and visualization, we built the application with R Shiny, shinydashboard, Plotly, and DT. All dependencies are reproducible via requirements.R.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describes our dataset and feature engineering. We trained the model on the official Kaggle Loan Approval Prediction dataset with 4,269 rows and 13 columns. To maintain complete academic integrity, we established an explicit three-tier feature system: Tier A consists of original Kaggle features like income_annum, loan_amount, and cibil_score. Tier B consists of 13 derived domain metrics like DTI, LTV, EMI, and total assets. Tier C includes user simulation inputs like existing EMI and interest rate for What-If scenario analysis. Data partitioning was strictly stratified 80/20 with zero data leakage.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presents the user interface of our completed application. On the left is an authentic screenshot captured from our live running Shiny server on port 7890. On the right, we outline the 10 distinct interactive modules accessible via the sidebar menu. Every tab is fully wired to reactive R expressions, ensuring instantaneous recalculation without page reloads.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demonstrates the financial mathematics engine implemented in R/financial_calculations.R. On the left are the five fundamental solvency equations implemented: EMI annuity math, DTI, LTV, disposable surplus, and repayment buffer multiple. On the right is a concrete, verified test case. With an annual income of 4.8 million INR and a 2.5 million loan, the engine calculates an EMI of exactly Rs 24,621.84. DTI is 8.16% and LTV is 59.52%, both far below institutional risk limits.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outlines the three machine learning models implemented in R/ml_models.R. We trained Logistic Regression as our linear baseline, Random Forest with 120 trees as a bagging ensemble, and XGBoost with gradient boosted trees. All models were evaluated using stratified 5-fold cross-validation on 3,415 training observations before being evaluated on the held-out test partition. Both tree-based models achieve near-perfect classification performance due to the decisive separation of CIBIL score.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displays our verified experimental results from reports/model_evaluation.csv. On the held-out test partition of 854 records, Logistic Regression achieved 94.26% accuracy with an AUC of 0.9814. Both Random Forest and XGBoost achieved near-perfect accuracy above 99.7% and an AUC of 1.0000. On the bottom right, we examine feature importance: CIBIL score is by far the most dominant separator, followed by the loan-to-income ratio, loan amount, and commercial asset collateral.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demonstrates the actual working application workflow using genuine screenshots. In Step 1, the underwriter or applicant enters their financial baseline in Tab 2. In Step 2, loan specifications are defined in Tab 3, generating instant amortization math. In Step 3, the Machine Learning prediction and Risk Engine synthesize the decision in Tab 5. The entire process completes in real-time under 10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highlights our Risk Assessment Engine and What-If Simulation. Our risk engine synthesizes ML approval probability with classical financial solvency formulas into a 0–100 score. Crucially, it generates explainable credit factors: prime credit strengths, vulnerability alerts, and actionable recommendations. On the right is our What-If simulation tool in Tab 6. It allows borrowers to stress-test their application: for example, seeing how stretching loan tenure reduces their monthly EMI and restores an Eligible classification.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demonstrates our rigorous testing methodology. In tests/test_functions.R, we implemented 43 automated unit tests covering four core domains: financial math boundary cases, debt solvency ratios, Kaggle data ingestion integrity, and real-time machine learning inference. All 43 tests pass with a 100% success rate, ensuring production-grade code stability.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discusses the authentic technical challenges we faced during implementation. First, we discovered negative residential assets in the Kaggle dataset representing mortgage overdrafts. We resolved this by separating algebraic net worth from collateral appraisal. Second, to prevent training-serving skew, we created a single unified feature engineering pipeline. Third, to prevent installation failures from network timeouts on large CRAN packages, we engineered robust base-R fallbacks for column name cleaning.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outlines our limitations and planned roadmap. In the spirit of academic honesty, we highlight that the dataset represents cross-sectional snapshot data with benchmark interest rates. In the future, we plan to integrate live credit bureau APIs, add SHAP local explainability waterfall plots, implement multi-product loan rerouting, and containerize the application with Docker for cloud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LoanWiser delivers a personalized, model-based loan decision support system that bridges the gap between machine learning predictions and institutional banking rules. We have delivered a fully working 10-tab Shiny application, three validated ML models, and complete test suites. Thank you to our evaluators. We now warmly invite your questions and technical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3840480" cy="329184"/>
          </a:xfrm>
          <a:prstGeom prst="roundRect">
            <a:avLst/>
          </a:prstGeom>
          <a:solidFill>
            <a:srgbClr val="0F223C"/>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latin typeface="Segoe UI"/>
              </a:defRPr>
            </a:pPr>
            <a:r>
              <a:t>R  •  MACHINE LEARNING  •  SHINY  •  REVIEW 2</a:t>
            </a:r>
          </a:p>
        </p:txBody>
      </p:sp>
      <p:sp>
        <p:nvSpPr>
          <p:cNvPr id="4" name="TextBox 3"/>
          <p:cNvSpPr txBox="1"/>
          <p:nvPr/>
        </p:nvSpPr>
        <p:spPr>
          <a:xfrm>
            <a:off x="731520" y="1234440"/>
            <a:ext cx="10698480" cy="1097280"/>
          </a:xfrm>
          <a:prstGeom prst="rect">
            <a:avLst/>
          </a:prstGeom>
          <a:noFill/>
        </p:spPr>
        <p:txBody>
          <a:bodyPr wrap="square">
            <a:spAutoFit/>
          </a:bodyPr>
          <a:lstStyle/>
          <a:p>
            <a:pPr>
              <a:defRPr sz="4600" b="1">
                <a:solidFill>
                  <a:srgbClr val="FFFFFF"/>
                </a:solidFill>
                <a:latin typeface="Segoe UI"/>
              </a:defRPr>
            </a:pPr>
            <a:r>
              <a:t>LOANWISER</a:t>
            </a:r>
          </a:p>
          <a:p>
            <a:pPr>
              <a:spcBef>
                <a:spcPts val="600"/>
              </a:spcBef>
              <a:defRPr sz="2000" b="1">
                <a:solidFill>
                  <a:srgbClr val="38BDF8"/>
                </a:solidFill>
                <a:latin typeface="Segoe UI"/>
              </a:defRPr>
            </a:pPr>
            <a:r>
              <a:t>Personalized Loan Eligibility &amp; Financial Risk Analysis Using R</a:t>
            </a:r>
          </a:p>
          <a:p>
            <a:pPr>
              <a:spcBef>
                <a:spcPts val="800"/>
              </a:spcBef>
              <a:defRPr sz="1300">
                <a:solidFill>
                  <a:srgbClr val="CBD5E1"/>
                </a:solidFill>
                <a:latin typeface="Segoe UI"/>
              </a:defRPr>
            </a:pPr>
            <a:r>
              <a:t>Review 2: Actual System Implementation, Empirical ML Validation &amp; R Shiny Demonstration</a:t>
            </a:r>
          </a:p>
        </p:txBody>
      </p:sp>
      <p:sp>
        <p:nvSpPr>
          <p:cNvPr id="5" name="Rounded Rectangle 4"/>
          <p:cNvSpPr/>
          <p:nvPr/>
        </p:nvSpPr>
        <p:spPr>
          <a:xfrm>
            <a:off x="731520" y="3291840"/>
            <a:ext cx="10728655" cy="201168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3429000"/>
            <a:ext cx="10058400" cy="320040"/>
          </a:xfrm>
          <a:prstGeom prst="rect">
            <a:avLst/>
          </a:prstGeom>
          <a:noFill/>
        </p:spPr>
        <p:txBody>
          <a:bodyPr wrap="none">
            <a:spAutoFit/>
          </a:bodyPr>
          <a:lstStyle/>
          <a:p>
            <a:pPr>
              <a:defRPr sz="1100" b="1">
                <a:solidFill>
                  <a:srgbClr val="38BDF8"/>
                </a:solidFill>
                <a:latin typeface="Segoe UI"/>
              </a:defRPr>
            </a:pPr>
            <a:r>
              <a:t>PROJECT TEAM MEMBERS &amp; RESPONSIBILITIES</a:t>
            </a:r>
          </a:p>
        </p:txBody>
      </p:sp>
      <p:sp>
        <p:nvSpPr>
          <p:cNvPr id="7" name="Rounded Rectangle 6"/>
          <p:cNvSpPr/>
          <p:nvPr/>
        </p:nvSpPr>
        <p:spPr>
          <a:xfrm>
            <a:off x="1005840" y="3794760"/>
            <a:ext cx="5029200" cy="1371600"/>
          </a:xfrm>
          <a:prstGeom prst="roundRect">
            <a:avLst/>
          </a:prstGeom>
          <a:solidFill>
            <a:srgbClr val="0F1B2E"/>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3886200"/>
            <a:ext cx="4754880" cy="1188720"/>
          </a:xfrm>
          <a:prstGeom prst="rect">
            <a:avLst/>
          </a:prstGeom>
          <a:noFill/>
        </p:spPr>
        <p:txBody>
          <a:bodyPr wrap="square">
            <a:spAutoFit/>
          </a:bodyPr>
          <a:lstStyle/>
          <a:p>
            <a:pPr>
              <a:defRPr sz="1500" b="1">
                <a:solidFill>
                  <a:srgbClr val="FFFFFF"/>
                </a:solidFill>
                <a:latin typeface="Segoe UI"/>
              </a:defRPr>
            </a:pPr>
            <a:r>
              <a:t>S. Karpagam</a:t>
            </a:r>
          </a:p>
          <a:p>
            <a:pPr>
              <a:defRPr sz="1050">
                <a:solidFill>
                  <a:srgbClr val="38BDF8"/>
                </a:solidFill>
                <a:latin typeface="Segoe UI"/>
              </a:defRPr>
            </a:pPr>
            <a:r>
              <a:t>Register No: 24BDS1210  |  GitHub: sm-kpg-06</a:t>
            </a:r>
          </a:p>
          <a:p>
            <a:pPr>
              <a:spcBef>
                <a:spcPts val="300"/>
              </a:spcBef>
              <a:defRPr sz="950">
                <a:solidFill>
                  <a:srgbClr val="CBD5E1"/>
                </a:solidFill>
                <a:latin typeface="Segoe UI"/>
              </a:defRPr>
            </a:pPr>
            <a:r>
              <a:t>Focus: Kaggle Ingestion, Preprocessing, ML Pipelines (RF, XGBoost, GLM) &amp; 5-Fold Cross-Validation</a:t>
            </a:r>
          </a:p>
        </p:txBody>
      </p:sp>
      <p:sp>
        <p:nvSpPr>
          <p:cNvPr id="9" name="Rounded Rectangle 8"/>
          <p:cNvSpPr/>
          <p:nvPr/>
        </p:nvSpPr>
        <p:spPr>
          <a:xfrm>
            <a:off x="6217920" y="3794760"/>
            <a:ext cx="5029200" cy="1371600"/>
          </a:xfrm>
          <a:prstGeom prst="roundRect">
            <a:avLst/>
          </a:prstGeom>
          <a:solidFill>
            <a:srgbClr val="0F1B2E"/>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886200"/>
            <a:ext cx="4754880" cy="1188720"/>
          </a:xfrm>
          <a:prstGeom prst="rect">
            <a:avLst/>
          </a:prstGeom>
          <a:noFill/>
        </p:spPr>
        <p:txBody>
          <a:bodyPr wrap="square">
            <a:spAutoFit/>
          </a:bodyPr>
          <a:lstStyle/>
          <a:p>
            <a:pPr>
              <a:defRPr sz="1500" b="1">
                <a:solidFill>
                  <a:srgbClr val="FFFFFF"/>
                </a:solidFill>
                <a:latin typeface="Segoe UI"/>
              </a:defRPr>
            </a:pPr>
            <a:r>
              <a:t>Shruti Chaturvedi</a:t>
            </a:r>
          </a:p>
          <a:p>
            <a:pPr>
              <a:defRPr sz="1050">
                <a:solidFill>
                  <a:srgbClr val="38BDF8"/>
                </a:solidFill>
                <a:latin typeface="Segoe UI"/>
              </a:defRPr>
            </a:pPr>
            <a:r>
              <a:t>Register No: 24BDS1003  |  GitHub: shrutichaturvedi2024-netizen</a:t>
            </a:r>
          </a:p>
          <a:p>
            <a:pPr>
              <a:spcBef>
                <a:spcPts val="300"/>
              </a:spcBef>
              <a:defRPr sz="950">
                <a:solidFill>
                  <a:srgbClr val="CBD5E1"/>
                </a:solidFill>
                <a:latin typeface="Segoe UI"/>
              </a:defRPr>
            </a:pPr>
            <a:r>
              <a:t>Focus: Financial Mathematics (EMI, DTI, LTV), Risk Engine Synthesis &amp; R Shiny Interactive Dashboard</a:t>
            </a:r>
          </a:p>
        </p:txBody>
      </p:sp>
      <p:sp>
        <p:nvSpPr>
          <p:cNvPr id="11" name="TextBox 10"/>
          <p:cNvSpPr txBox="1"/>
          <p:nvPr/>
        </p:nvSpPr>
        <p:spPr>
          <a:xfrm>
            <a:off x="731520" y="5623560"/>
            <a:ext cx="10698480" cy="548640"/>
          </a:xfrm>
          <a:prstGeom prst="rect">
            <a:avLst/>
          </a:prstGeom>
          <a:noFill/>
        </p:spPr>
        <p:txBody>
          <a:bodyPr wrap="none">
            <a:spAutoFit/>
          </a:bodyPr>
          <a:lstStyle/>
          <a:p>
            <a:pPr>
              <a:defRPr sz="1100" b="1">
                <a:solidFill>
                  <a:srgbClr val="10B981"/>
                </a:solidFill>
                <a:latin typeface="Segoe UI"/>
              </a:defRPr>
            </a:pPr>
            <a:r>
              <a:t>Course: Problem Solving with Data Science  •  Status: Fully Working (10 Shiny Tabs • 43/43 Tests Passing • Verified HTTP 200 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Segoe UI"/>
              </a:defRPr>
            </a:pPr>
            <a:r>
              <a:t>LOANWISER  •  REVIEW 2: IMPLEMENTATION &amp; RESULTS</a:t>
            </a:r>
          </a:p>
        </p:txBody>
      </p:sp>
      <p:sp>
        <p:nvSpPr>
          <p:cNvPr id="4" name="TextBox 3"/>
          <p:cNvSpPr txBox="1"/>
          <p:nvPr/>
        </p:nvSpPr>
        <p:spPr>
          <a:xfrm>
            <a:off x="731520" y="594360"/>
            <a:ext cx="10698480" cy="502920"/>
          </a:xfrm>
          <a:prstGeom prst="rect">
            <a:avLst/>
          </a:prstGeom>
          <a:noFill/>
        </p:spPr>
        <p:txBody>
          <a:bodyPr wrap="square" lIns="0" tIns="0" rIns="0" bIns="0">
            <a:spAutoFit/>
          </a:bodyPr>
          <a:lstStyle/>
          <a:p>
            <a:pPr>
              <a:defRPr sz="2100" b="1">
                <a:solidFill>
                  <a:srgbClr val="FFFFFF"/>
                </a:solidFill>
                <a:latin typeface="Segoe UI"/>
              </a:defRPr>
            </a:pPr>
            <a:r>
              <a:t>Project Overview &amp; Review 1 Progress Tracking</a:t>
            </a:r>
          </a:p>
        </p:txBody>
      </p:sp>
      <p:sp>
        <p:nvSpPr>
          <p:cNvPr id="5" name="TextBox 4"/>
          <p:cNvSpPr txBox="1"/>
          <p:nvPr/>
        </p:nvSpPr>
        <p:spPr>
          <a:xfrm>
            <a:off x="731520" y="1078992"/>
            <a:ext cx="10698480" cy="320040"/>
          </a:xfrm>
          <a:prstGeom prst="rect">
            <a:avLst/>
          </a:prstGeom>
          <a:noFill/>
        </p:spPr>
        <p:txBody>
          <a:bodyPr wrap="square" lIns="0" tIns="0" rIns="0" bIns="0">
            <a:spAutoFit/>
          </a:bodyPr>
          <a:lstStyle/>
          <a:p>
            <a:pPr>
              <a:defRPr sz="1100">
                <a:solidFill>
                  <a:srgbClr val="94A3B8"/>
                </a:solidFill>
                <a:latin typeface="Segoe UI"/>
              </a:defRPr>
            </a:pPr>
            <a:r>
              <a:t>Recap of Proposed Review 1 Scope vs. Realized Implementation Deliverables</a:t>
            </a:r>
          </a:p>
        </p:txBody>
      </p:sp>
      <p:sp>
        <p:nvSpPr>
          <p:cNvPr id="6" name="TextBox 5"/>
          <p:cNvSpPr txBox="1"/>
          <p:nvPr/>
        </p:nvSpPr>
        <p:spPr>
          <a:xfrm>
            <a:off x="731520" y="6492240"/>
            <a:ext cx="9144000" cy="274320"/>
          </a:xfrm>
          <a:prstGeom prst="rect">
            <a:avLst/>
          </a:prstGeom>
          <a:noFill/>
        </p:spPr>
        <p:txBody>
          <a:bodyPr wrap="none" lIns="0" tIns="0" rIns="0" bIns="0">
            <a:spAutoFit/>
          </a:bodyPr>
          <a:lstStyle/>
          <a:p>
            <a:pPr>
              <a:defRPr sz="900">
                <a:solidFill>
                  <a:srgbClr val="94A3B8"/>
                </a:solidFill>
                <a:latin typeface="Segoe UI"/>
              </a:defRPr>
            </a:pPr>
            <a:r>
              <a:t>LOANWISER  |  Review 2: Implementation &amp; Results  |  S. Karpagam (24BDS1210) &amp; Shruti Chaturvedi (24BDS1003)</a:t>
            </a:r>
          </a:p>
        </p:txBody>
      </p:sp>
      <p:sp>
        <p:nvSpPr>
          <p:cNvPr id="7" name="TextBox 6"/>
          <p:cNvSpPr txBox="1"/>
          <p:nvPr/>
        </p:nvSpPr>
        <p:spPr>
          <a:xfrm>
            <a:off x="10515600" y="6492240"/>
            <a:ext cx="914400" cy="274320"/>
          </a:xfrm>
          <a:prstGeom prst="rect">
            <a:avLst/>
          </a:prstGeom>
          <a:noFill/>
        </p:spPr>
        <p:txBody>
          <a:bodyPr wrap="none" lIns="0" tIns="0" rIns="0" bIns="0">
            <a:spAutoFit/>
          </a:bodyPr>
          <a:lstStyle/>
          <a:p>
            <a:pPr algn="r">
              <a:defRPr sz="900" b="1">
                <a:solidFill>
                  <a:srgbClr val="38BDF8"/>
                </a:solidFill>
                <a:latin typeface="Segoe UI"/>
              </a:defRPr>
            </a:pPr>
            <a:r>
              <a:t>2 / 15</a:t>
            </a:r>
          </a:p>
        </p:txBody>
      </p:sp>
      <p:sp>
        <p:nvSpPr>
          <p:cNvPr id="8" name="Rounded Rectangle 7"/>
          <p:cNvSpPr/>
          <p:nvPr/>
        </p:nvSpPr>
        <p:spPr>
          <a:xfrm>
            <a:off x="731520" y="1508760"/>
            <a:ext cx="4114800" cy="470916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3749039" cy="4389120"/>
          </a:xfrm>
          <a:prstGeom prst="rect">
            <a:avLst/>
          </a:prstGeom>
          <a:noFill/>
        </p:spPr>
        <p:txBody>
          <a:bodyPr wrap="square">
            <a:spAutoFit/>
          </a:bodyPr>
          <a:lstStyle/>
          <a:p>
            <a:pPr>
              <a:defRPr sz="1300" b="1">
                <a:solidFill>
                  <a:srgbClr val="38BDF8"/>
                </a:solidFill>
                <a:latin typeface="Segoe UI"/>
              </a:defRPr>
            </a:pPr>
            <a:r>
              <a:t>CORE PROBLEM ADDRESSED</a:t>
            </a:r>
          </a:p>
          <a:p>
            <a:pPr>
              <a:spcBef>
                <a:spcPts val="600"/>
              </a:spcBef>
              <a:defRPr sz="1050">
                <a:solidFill>
                  <a:srgbClr val="CBD5E1"/>
                </a:solidFill>
                <a:latin typeface="Segoe UI"/>
              </a:defRPr>
            </a:pPr>
            <a:r>
              <a:t>Traditional loan underwriting relies on rigid, 'one-size-fits-all' heuristics that fail across diverse applicant backgrounds (e.g. salaried professionals vs. self-employed entrepreneurs). Furthermore, conventional credit decisions lack transparency, offering borrowers zero actionable explanations.</a:t>
            </a:r>
          </a:p>
          <a:p>
            <a:pPr>
              <a:spcBef>
                <a:spcPts val="1400"/>
              </a:spcBef>
              <a:defRPr sz="1300" b="1">
                <a:solidFill>
                  <a:srgbClr val="38BDF8"/>
                </a:solidFill>
                <a:latin typeface="Segoe UI"/>
              </a:defRPr>
            </a:pPr>
            <a:r>
              <a:t>LOANWISER DUAL-ENGINE SOLUTION</a:t>
            </a:r>
          </a:p>
          <a:p>
            <a:pPr>
              <a:spcBef>
                <a:spcPts val="400"/>
              </a:spcBef>
              <a:defRPr sz="1000">
                <a:solidFill>
                  <a:srgbClr val="CBD5E1"/>
                </a:solidFill>
                <a:latin typeface="Segoe UI"/>
              </a:defRPr>
            </a:pPr>
            <a:r>
              <a:t>1. Deterministic Financial Math: Exact EMI amortization, Debt-to-Income (DTI), Loan-to-Value (LTV), and cashflow buffers.</a:t>
            </a:r>
          </a:p>
          <a:p>
            <a:pPr>
              <a:spcBef>
                <a:spcPts val="400"/>
              </a:spcBef>
              <a:defRPr sz="1000">
                <a:solidFill>
                  <a:srgbClr val="CBD5E1"/>
                </a:solidFill>
                <a:latin typeface="Segoe UI"/>
              </a:defRPr>
            </a:pPr>
            <a:r>
              <a:t>2. Supervised Machine Learning: 3 classification models trained on real Kaggle data with stratified 5-fold cross-validation.</a:t>
            </a:r>
          </a:p>
          <a:p>
            <a:pPr>
              <a:spcBef>
                <a:spcPts val="400"/>
              </a:spcBef>
              <a:defRPr sz="1000">
                <a:solidFill>
                  <a:srgbClr val="CBD5E1"/>
                </a:solidFill>
                <a:latin typeface="Segoe UI"/>
              </a:defRPr>
            </a:pPr>
            <a:r>
              <a:t>3. Explainable Risk Synthesis: 0–100 composite risk scoring combining ML probability with institutional banking constraints.</a:t>
            </a:r>
          </a:p>
          <a:p>
            <a:pPr>
              <a:spcBef>
                <a:spcPts val="400"/>
              </a:spcBef>
              <a:defRPr sz="1000">
                <a:solidFill>
                  <a:srgbClr val="CBD5E1"/>
                </a:solidFill>
                <a:latin typeface="Segoe UI"/>
              </a:defRPr>
            </a:pPr>
            <a:r>
              <a:t>4. Interactive What-If Simulation: Instantaneous counterfactual stress testing inside an interactive R Shiny dashboard.</a:t>
            </a:r>
          </a:p>
        </p:txBody>
      </p:sp>
      <p:sp>
        <p:nvSpPr>
          <p:cNvPr id="10" name="Rounded Rectangle 9"/>
          <p:cNvSpPr/>
          <p:nvPr/>
        </p:nvSpPr>
        <p:spPr>
          <a:xfrm>
            <a:off x="5029200" y="1508760"/>
            <a:ext cx="6430975" cy="470916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645920"/>
            <a:ext cx="6035040" cy="365760"/>
          </a:xfrm>
          <a:prstGeom prst="rect">
            <a:avLst/>
          </a:prstGeom>
          <a:noFill/>
        </p:spPr>
        <p:txBody>
          <a:bodyPr wrap="none">
            <a:spAutoFit/>
          </a:bodyPr>
          <a:lstStyle/>
          <a:p>
            <a:pPr>
              <a:defRPr sz="1300" b="1">
                <a:solidFill>
                  <a:srgbClr val="38BDF8"/>
                </a:solidFill>
                <a:latin typeface="Segoe UI"/>
              </a:defRPr>
            </a:pPr>
            <a:r>
              <a:t>REVIEW 1 PROPOSAL VS. REVIEW 2 ACTUAL IMPLEMENTATION</a:t>
            </a:r>
          </a:p>
        </p:txBody>
      </p:sp>
      <p:graphicFrame>
        <p:nvGraphicFramePr>
          <p:cNvPr id="12" name="Table 11"/>
          <p:cNvGraphicFramePr>
            <a:graphicFrameLocks noGrp="1"/>
          </p:cNvGraphicFramePr>
          <p:nvPr/>
        </p:nvGraphicFramePr>
        <p:xfrm>
          <a:off x="5212080" y="2057400"/>
          <a:ext cx="6065215" cy="3931920"/>
        </p:xfrm>
        <a:graphic>
          <a:graphicData uri="http://schemas.openxmlformats.org/drawingml/2006/table">
            <a:tbl>
              <a:tblPr firstRow="1" bandRow="1">
                <a:tableStyleId>{5C22544A-7EE6-4342-B048-85BDC9FD1C3A}</a:tableStyleId>
              </a:tblPr>
              <a:tblGrid>
                <a:gridCol w="1554480"/>
                <a:gridCol w="1645920"/>
                <a:gridCol w="1920240"/>
                <a:gridCol w="944575"/>
              </a:tblGrid>
              <a:tr h="491490">
                <a:tc>
                  <a:txBody>
                    <a:bodyPr/>
                    <a:lstStyle/>
                    <a:p>
                      <a:pPr>
                        <a:defRPr sz="1000" b="1">
                          <a:solidFill>
                            <a:srgbClr val="38BDF8"/>
                          </a:solidFill>
                          <a:latin typeface="Segoe UI"/>
                        </a:defRPr>
                      </a:pPr>
                      <a:r>
                        <a:t>Module / Scope</a:t>
                      </a:r>
                    </a:p>
                  </a:txBody>
                  <a:tcPr>
                    <a:solidFill>
                      <a:srgbClr val="0F2A4A"/>
                    </a:solidFill>
                  </a:tcPr>
                </a:tc>
                <a:tc>
                  <a:txBody>
                    <a:bodyPr/>
                    <a:lstStyle/>
                    <a:p>
                      <a:pPr>
                        <a:defRPr sz="1000" b="1">
                          <a:solidFill>
                            <a:srgbClr val="38BDF8"/>
                          </a:solidFill>
                          <a:latin typeface="Segoe UI"/>
                        </a:defRPr>
                      </a:pPr>
                      <a:r>
                        <a:t>Proposed in Review 1</a:t>
                      </a:r>
                    </a:p>
                  </a:txBody>
                  <a:tcPr>
                    <a:solidFill>
                      <a:srgbClr val="0F2A4A"/>
                    </a:solidFill>
                  </a:tcPr>
                </a:tc>
                <a:tc>
                  <a:txBody>
                    <a:bodyPr/>
                    <a:lstStyle/>
                    <a:p>
                      <a:pPr>
                        <a:defRPr sz="1000" b="1">
                          <a:solidFill>
                            <a:srgbClr val="38BDF8"/>
                          </a:solidFill>
                          <a:latin typeface="Segoe UI"/>
                        </a:defRPr>
                      </a:pPr>
                      <a:r>
                        <a:t>Implemented in Review 2</a:t>
                      </a:r>
                    </a:p>
                  </a:txBody>
                  <a:tcPr>
                    <a:solidFill>
                      <a:srgbClr val="0F2A4A"/>
                    </a:solidFill>
                  </a:tcPr>
                </a:tc>
                <a:tc>
                  <a:txBody>
                    <a:bodyPr/>
                    <a:lstStyle/>
                    <a:p>
                      <a:pPr>
                        <a:defRPr sz="1000" b="1">
                          <a:solidFill>
                            <a:srgbClr val="38BDF8"/>
                          </a:solidFill>
                          <a:latin typeface="Segoe UI"/>
                        </a:defRPr>
                      </a:pPr>
                      <a:r>
                        <a:t>Status</a:t>
                      </a:r>
                    </a:p>
                  </a:txBody>
                  <a:tcPr>
                    <a:solidFill>
                      <a:srgbClr val="0F2A4A"/>
                    </a:solidFill>
                  </a:tcPr>
                </a:tc>
              </a:tr>
              <a:tr h="491490">
                <a:tc>
                  <a:txBody>
                    <a:bodyPr/>
                    <a:lstStyle/>
                    <a:p>
                      <a:pPr>
                        <a:defRPr sz="950">
                          <a:solidFill>
                            <a:srgbClr val="FFFFFF"/>
                          </a:solidFill>
                          <a:latin typeface="Segoe UI"/>
                        </a:defRPr>
                      </a:pPr>
                      <a:r>
                        <a:t>Primary Dataset</a:t>
                      </a:r>
                    </a:p>
                  </a:txBody>
                  <a:tcPr>
                    <a:solidFill>
                      <a:srgbClr val="0E1C30"/>
                    </a:solidFill>
                  </a:tcPr>
                </a:tc>
                <a:tc>
                  <a:txBody>
                    <a:bodyPr/>
                    <a:lstStyle/>
                    <a:p>
                      <a:pPr>
                        <a:defRPr sz="950">
                          <a:solidFill>
                            <a:srgbClr val="CBD5E1"/>
                          </a:solidFill>
                          <a:latin typeface="Segoe UI"/>
                        </a:defRPr>
                      </a:pPr>
                      <a:r>
                        <a:t>Open / Synthetic Data</a:t>
                      </a:r>
                    </a:p>
                  </a:txBody>
                  <a:tcPr>
                    <a:solidFill>
                      <a:srgbClr val="0E1C30"/>
                    </a:solidFill>
                  </a:tcPr>
                </a:tc>
                <a:tc>
                  <a:txBody>
                    <a:bodyPr/>
                    <a:lstStyle/>
                    <a:p>
                      <a:pPr>
                        <a:defRPr sz="950">
                          <a:solidFill>
                            <a:srgbClr val="CBD5E1"/>
                          </a:solidFill>
                          <a:latin typeface="Segoe UI"/>
                        </a:defRPr>
                      </a:pPr>
                      <a:r>
                        <a:t>Kaggle Loan Approval (4,269 rows)</a:t>
                      </a:r>
                    </a:p>
                  </a:txBody>
                  <a:tcPr>
                    <a:solidFill>
                      <a:srgbClr val="0E1C30"/>
                    </a:solidFill>
                  </a:tcPr>
                </a:tc>
                <a:tc>
                  <a:txBody>
                    <a:bodyPr/>
                    <a:lstStyle/>
                    <a:p>
                      <a:pPr>
                        <a:defRPr sz="950" b="1">
                          <a:solidFill>
                            <a:srgbClr val="10B981"/>
                          </a:solidFill>
                          <a:latin typeface="Segoe UI"/>
                        </a:defRPr>
                      </a:pPr>
                      <a:r>
                        <a:t>100% Done</a:t>
                      </a:r>
                    </a:p>
                  </a:txBody>
                  <a:tcPr>
                    <a:solidFill>
                      <a:srgbClr val="0E1C30"/>
                    </a:solidFill>
                  </a:tcPr>
                </a:tc>
              </a:tr>
              <a:tr h="491490">
                <a:tc>
                  <a:txBody>
                    <a:bodyPr/>
                    <a:lstStyle/>
                    <a:p>
                      <a:pPr>
                        <a:defRPr sz="950">
                          <a:solidFill>
                            <a:srgbClr val="FFFFFF"/>
                          </a:solidFill>
                          <a:latin typeface="Segoe UI"/>
                        </a:defRPr>
                      </a:pPr>
                      <a:r>
                        <a:t>Data Preprocessing</a:t>
                      </a:r>
                    </a:p>
                  </a:txBody>
                  <a:tcPr>
                    <a:solidFill>
                      <a:srgbClr val="132238"/>
                    </a:solidFill>
                  </a:tcPr>
                </a:tc>
                <a:tc>
                  <a:txBody>
                    <a:bodyPr/>
                    <a:lstStyle/>
                    <a:p>
                      <a:pPr>
                        <a:defRPr sz="950">
                          <a:solidFill>
                            <a:srgbClr val="CBD5E1"/>
                          </a:solidFill>
                          <a:latin typeface="Segoe UI"/>
                        </a:defRPr>
                      </a:pPr>
                      <a:r>
                        <a:t>Cleaning &amp; Scaling</a:t>
                      </a:r>
                    </a:p>
                  </a:txBody>
                  <a:tcPr>
                    <a:solidFill>
                      <a:srgbClr val="132238"/>
                    </a:solidFill>
                  </a:tcPr>
                </a:tc>
                <a:tc>
                  <a:txBody>
                    <a:bodyPr/>
                    <a:lstStyle/>
                    <a:p>
                      <a:pPr>
                        <a:defRPr sz="950">
                          <a:solidFill>
                            <a:srgbClr val="CBD5E1"/>
                          </a:solidFill>
                          <a:latin typeface="Segoe UI"/>
                        </a:defRPr>
                      </a:pPr>
                      <a:r>
                        <a:t>Zero-leakage split, 3-tier features</a:t>
                      </a:r>
                    </a:p>
                  </a:txBody>
                  <a:tcPr>
                    <a:solidFill>
                      <a:srgbClr val="132238"/>
                    </a:solidFill>
                  </a:tcPr>
                </a:tc>
                <a:tc>
                  <a:txBody>
                    <a:bodyPr/>
                    <a:lstStyle/>
                    <a:p>
                      <a:pPr>
                        <a:defRPr sz="950" b="1">
                          <a:solidFill>
                            <a:srgbClr val="10B981"/>
                          </a:solidFill>
                          <a:latin typeface="Segoe UI"/>
                        </a:defRPr>
                      </a:pPr>
                      <a:r>
                        <a:t>100% Done</a:t>
                      </a:r>
                    </a:p>
                  </a:txBody>
                  <a:tcPr>
                    <a:solidFill>
                      <a:srgbClr val="132238"/>
                    </a:solidFill>
                  </a:tcPr>
                </a:tc>
              </a:tr>
              <a:tr h="491490">
                <a:tc>
                  <a:txBody>
                    <a:bodyPr/>
                    <a:lstStyle/>
                    <a:p>
                      <a:pPr>
                        <a:defRPr sz="950">
                          <a:solidFill>
                            <a:srgbClr val="FFFFFF"/>
                          </a:solidFill>
                          <a:latin typeface="Segoe UI"/>
                        </a:defRPr>
                      </a:pPr>
                      <a:r>
                        <a:t>Financial Engine</a:t>
                      </a:r>
                    </a:p>
                  </a:txBody>
                  <a:tcPr>
                    <a:solidFill>
                      <a:srgbClr val="0E1C30"/>
                    </a:solidFill>
                  </a:tcPr>
                </a:tc>
                <a:tc>
                  <a:txBody>
                    <a:bodyPr/>
                    <a:lstStyle/>
                    <a:p>
                      <a:pPr>
                        <a:defRPr sz="950">
                          <a:solidFill>
                            <a:srgbClr val="CBD5E1"/>
                          </a:solidFill>
                          <a:latin typeface="Segoe UI"/>
                        </a:defRPr>
                      </a:pPr>
                      <a:r>
                        <a:t>EMI &amp; Solvency Math</a:t>
                      </a:r>
                    </a:p>
                  </a:txBody>
                  <a:tcPr>
                    <a:solidFill>
                      <a:srgbClr val="0E1C30"/>
                    </a:solidFill>
                  </a:tcPr>
                </a:tc>
                <a:tc>
                  <a:txBody>
                    <a:bodyPr/>
                    <a:lstStyle/>
                    <a:p>
                      <a:pPr>
                        <a:defRPr sz="950">
                          <a:solidFill>
                            <a:srgbClr val="CBD5E1"/>
                          </a:solidFill>
                          <a:latin typeface="Segoe UI"/>
                        </a:defRPr>
                      </a:pPr>
                      <a:r>
                        <a:t>Exact EMI, DTI, LTV, Amortization</a:t>
                      </a:r>
                    </a:p>
                  </a:txBody>
                  <a:tcPr>
                    <a:solidFill>
                      <a:srgbClr val="0E1C30"/>
                    </a:solidFill>
                  </a:tcPr>
                </a:tc>
                <a:tc>
                  <a:txBody>
                    <a:bodyPr/>
                    <a:lstStyle/>
                    <a:p>
                      <a:pPr>
                        <a:defRPr sz="950" b="1">
                          <a:solidFill>
                            <a:srgbClr val="10B981"/>
                          </a:solidFill>
                          <a:latin typeface="Segoe UI"/>
                        </a:defRPr>
                      </a:pPr>
                      <a:r>
                        <a:t>100% Done</a:t>
                      </a:r>
                    </a:p>
                  </a:txBody>
                  <a:tcPr>
                    <a:solidFill>
                      <a:srgbClr val="0E1C30"/>
                    </a:solidFill>
                  </a:tcPr>
                </a:tc>
              </a:tr>
              <a:tr h="491490">
                <a:tc>
                  <a:txBody>
                    <a:bodyPr/>
                    <a:lstStyle/>
                    <a:p>
                      <a:pPr>
                        <a:defRPr sz="950">
                          <a:solidFill>
                            <a:srgbClr val="FFFFFF"/>
                          </a:solidFill>
                          <a:latin typeface="Segoe UI"/>
                        </a:defRPr>
                      </a:pPr>
                      <a:r>
                        <a:t>Machine Learning</a:t>
                      </a:r>
                    </a:p>
                  </a:txBody>
                  <a:tcPr>
                    <a:solidFill>
                      <a:srgbClr val="132238"/>
                    </a:solidFill>
                  </a:tcPr>
                </a:tc>
                <a:tc>
                  <a:txBody>
                    <a:bodyPr/>
                    <a:lstStyle/>
                    <a:p>
                      <a:pPr>
                        <a:defRPr sz="950">
                          <a:solidFill>
                            <a:srgbClr val="CBD5E1"/>
                          </a:solidFill>
                          <a:latin typeface="Segoe UI"/>
                        </a:defRPr>
                      </a:pPr>
                      <a:r>
                        <a:t>Logistic Reg &amp; Ensembles</a:t>
                      </a:r>
                    </a:p>
                  </a:txBody>
                  <a:tcPr>
                    <a:solidFill>
                      <a:srgbClr val="132238"/>
                    </a:solidFill>
                  </a:tcPr>
                </a:tc>
                <a:tc>
                  <a:txBody>
                    <a:bodyPr/>
                    <a:lstStyle/>
                    <a:p>
                      <a:pPr>
                        <a:defRPr sz="950">
                          <a:solidFill>
                            <a:srgbClr val="CBD5E1"/>
                          </a:solidFill>
                          <a:latin typeface="Segoe UI"/>
                        </a:defRPr>
                      </a:pPr>
                      <a:r>
                        <a:t>LR, Random Forest &amp; XGBoost (5-CV)</a:t>
                      </a:r>
                    </a:p>
                  </a:txBody>
                  <a:tcPr>
                    <a:solidFill>
                      <a:srgbClr val="132238"/>
                    </a:solidFill>
                  </a:tcPr>
                </a:tc>
                <a:tc>
                  <a:txBody>
                    <a:bodyPr/>
                    <a:lstStyle/>
                    <a:p>
                      <a:pPr>
                        <a:defRPr sz="950" b="1">
                          <a:solidFill>
                            <a:srgbClr val="10B981"/>
                          </a:solidFill>
                          <a:latin typeface="Segoe UI"/>
                        </a:defRPr>
                      </a:pPr>
                      <a:r>
                        <a:t>100% Done</a:t>
                      </a:r>
                    </a:p>
                  </a:txBody>
                  <a:tcPr>
                    <a:solidFill>
                      <a:srgbClr val="132238"/>
                    </a:solidFill>
                  </a:tcPr>
                </a:tc>
              </a:tr>
              <a:tr h="491490">
                <a:tc>
                  <a:txBody>
                    <a:bodyPr/>
                    <a:lstStyle/>
                    <a:p>
                      <a:pPr>
                        <a:defRPr sz="950">
                          <a:solidFill>
                            <a:srgbClr val="FFFFFF"/>
                          </a:solidFill>
                          <a:latin typeface="Segoe UI"/>
                        </a:defRPr>
                      </a:pPr>
                      <a:r>
                        <a:t>Risk Engine</a:t>
                      </a:r>
                    </a:p>
                  </a:txBody>
                  <a:tcPr>
                    <a:solidFill>
                      <a:srgbClr val="0E1C30"/>
                    </a:solidFill>
                  </a:tcPr>
                </a:tc>
                <a:tc>
                  <a:txBody>
                    <a:bodyPr/>
                    <a:lstStyle/>
                    <a:p>
                      <a:pPr>
                        <a:defRPr sz="950">
                          <a:solidFill>
                            <a:srgbClr val="CBD5E1"/>
                          </a:solidFill>
                          <a:latin typeface="Segoe UI"/>
                        </a:defRPr>
                      </a:pPr>
                      <a:r>
                        <a:t>Eligibility Categorization</a:t>
                      </a:r>
                    </a:p>
                  </a:txBody>
                  <a:tcPr>
                    <a:solidFill>
                      <a:srgbClr val="0E1C30"/>
                    </a:solidFill>
                  </a:tcPr>
                </a:tc>
                <a:tc>
                  <a:txBody>
                    <a:bodyPr/>
                    <a:lstStyle/>
                    <a:p>
                      <a:pPr>
                        <a:defRPr sz="950">
                          <a:solidFill>
                            <a:srgbClr val="CBD5E1"/>
                          </a:solidFill>
                          <a:latin typeface="Segoe UI"/>
                        </a:defRPr>
                      </a:pPr>
                      <a:r>
                        <a:t>0-100 Score, Low/Med/High &amp; Explain</a:t>
                      </a:r>
                    </a:p>
                  </a:txBody>
                  <a:tcPr>
                    <a:solidFill>
                      <a:srgbClr val="0E1C30"/>
                    </a:solidFill>
                  </a:tcPr>
                </a:tc>
                <a:tc>
                  <a:txBody>
                    <a:bodyPr/>
                    <a:lstStyle/>
                    <a:p>
                      <a:pPr>
                        <a:defRPr sz="950" b="1">
                          <a:solidFill>
                            <a:srgbClr val="10B981"/>
                          </a:solidFill>
                          <a:latin typeface="Segoe UI"/>
                        </a:defRPr>
                      </a:pPr>
                      <a:r>
                        <a:t>100% Done</a:t>
                      </a:r>
                    </a:p>
                  </a:txBody>
                  <a:tcPr>
                    <a:solidFill>
                      <a:srgbClr val="0E1C30"/>
                    </a:solidFill>
                  </a:tcPr>
                </a:tc>
              </a:tr>
              <a:tr h="491490">
                <a:tc>
                  <a:txBody>
                    <a:bodyPr/>
                    <a:lstStyle/>
                    <a:p>
                      <a:pPr>
                        <a:defRPr sz="950">
                          <a:solidFill>
                            <a:srgbClr val="FFFFFF"/>
                          </a:solidFill>
                          <a:latin typeface="Segoe UI"/>
                        </a:defRPr>
                      </a:pPr>
                      <a:r>
                        <a:t>Shiny Dashboard</a:t>
                      </a:r>
                    </a:p>
                  </a:txBody>
                  <a:tcPr>
                    <a:solidFill>
                      <a:srgbClr val="132238"/>
                    </a:solidFill>
                  </a:tcPr>
                </a:tc>
                <a:tc>
                  <a:txBody>
                    <a:bodyPr/>
                    <a:lstStyle/>
                    <a:p>
                      <a:pPr>
                        <a:defRPr sz="950">
                          <a:solidFill>
                            <a:srgbClr val="CBD5E1"/>
                          </a:solidFill>
                          <a:latin typeface="Segoe UI"/>
                        </a:defRPr>
                      </a:pPr>
                      <a:r>
                        <a:t>Proposed Architecture</a:t>
                      </a:r>
                    </a:p>
                  </a:txBody>
                  <a:tcPr>
                    <a:solidFill>
                      <a:srgbClr val="132238"/>
                    </a:solidFill>
                  </a:tcPr>
                </a:tc>
                <a:tc>
                  <a:txBody>
                    <a:bodyPr/>
                    <a:lstStyle/>
                    <a:p>
                      <a:pPr>
                        <a:defRPr sz="950">
                          <a:solidFill>
                            <a:srgbClr val="CBD5E1"/>
                          </a:solidFill>
                          <a:latin typeface="Segoe UI"/>
                        </a:defRPr>
                      </a:pPr>
                      <a:r>
                        <a:t>10 fully functional interactive tabs</a:t>
                      </a:r>
                    </a:p>
                  </a:txBody>
                  <a:tcPr>
                    <a:solidFill>
                      <a:srgbClr val="132238"/>
                    </a:solidFill>
                  </a:tcPr>
                </a:tc>
                <a:tc>
                  <a:txBody>
                    <a:bodyPr/>
                    <a:lstStyle/>
                    <a:p>
                      <a:pPr>
                        <a:defRPr sz="950" b="1">
                          <a:solidFill>
                            <a:srgbClr val="10B981"/>
                          </a:solidFill>
                          <a:latin typeface="Segoe UI"/>
                        </a:defRPr>
                      </a:pPr>
                      <a:r>
                        <a:t>100% Done</a:t>
                      </a:r>
                    </a:p>
                  </a:txBody>
                  <a:tcPr>
                    <a:solidFill>
                      <a:srgbClr val="132238"/>
                    </a:solidFill>
                  </a:tcPr>
                </a:tc>
              </a:tr>
              <a:tr h="491490">
                <a:tc>
                  <a:txBody>
                    <a:bodyPr/>
                    <a:lstStyle/>
                    <a:p>
                      <a:pPr>
                        <a:defRPr sz="950">
                          <a:solidFill>
                            <a:srgbClr val="FFFFFF"/>
                          </a:solidFill>
                          <a:latin typeface="Segoe UI"/>
                        </a:defRPr>
                      </a:pPr>
                      <a:r>
                        <a:t>Testing &amp; Validation</a:t>
                      </a:r>
                    </a:p>
                  </a:txBody>
                  <a:tcPr>
                    <a:solidFill>
                      <a:srgbClr val="0E1C30"/>
                    </a:solidFill>
                  </a:tcPr>
                </a:tc>
                <a:tc>
                  <a:txBody>
                    <a:bodyPr/>
                    <a:lstStyle/>
                    <a:p>
                      <a:pPr>
                        <a:defRPr sz="950">
                          <a:solidFill>
                            <a:srgbClr val="CBD5E1"/>
                          </a:solidFill>
                          <a:latin typeface="Segoe UI"/>
                        </a:defRPr>
                      </a:pPr>
                      <a:r>
                        <a:t>General Unit Tests</a:t>
                      </a:r>
                    </a:p>
                  </a:txBody>
                  <a:tcPr>
                    <a:solidFill>
                      <a:srgbClr val="0E1C30"/>
                    </a:solidFill>
                  </a:tcPr>
                </a:tc>
                <a:tc>
                  <a:txBody>
                    <a:bodyPr/>
                    <a:lstStyle/>
                    <a:p>
                      <a:pPr>
                        <a:defRPr sz="950">
                          <a:solidFill>
                            <a:srgbClr val="CBD5E1"/>
                          </a:solidFill>
                          <a:latin typeface="Segoe UI"/>
                        </a:defRPr>
                      </a:pPr>
                      <a:r>
                        <a:t>43/43 automated tests passing in R</a:t>
                      </a:r>
                    </a:p>
                  </a:txBody>
                  <a:tcPr>
                    <a:solidFill>
                      <a:srgbClr val="0E1C30"/>
                    </a:solidFill>
                  </a:tcPr>
                </a:tc>
                <a:tc>
                  <a:txBody>
                    <a:bodyPr/>
                    <a:lstStyle/>
                    <a:p>
                      <a:pPr>
                        <a:defRPr sz="950" b="1">
                          <a:solidFill>
                            <a:srgbClr val="10B981"/>
                          </a:solidFill>
                          <a:latin typeface="Segoe UI"/>
                        </a:defRPr>
                      </a:pPr>
                      <a:r>
                        <a:t>100% Done</a:t>
                      </a:r>
                    </a:p>
                  </a:txBody>
                  <a:tcPr>
                    <a:solidFill>
                      <a:srgbClr val="0E1C30"/>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Segoe UI"/>
              </a:defRPr>
            </a:pPr>
            <a:r>
              <a:t>LOANWISER  •  REVIEW 2: IMPLEMENTATION &amp; RESULTS</a:t>
            </a:r>
          </a:p>
        </p:txBody>
      </p:sp>
      <p:sp>
        <p:nvSpPr>
          <p:cNvPr id="4" name="TextBox 3"/>
          <p:cNvSpPr txBox="1"/>
          <p:nvPr/>
        </p:nvSpPr>
        <p:spPr>
          <a:xfrm>
            <a:off x="731520" y="594360"/>
            <a:ext cx="10698480" cy="502920"/>
          </a:xfrm>
          <a:prstGeom prst="rect">
            <a:avLst/>
          </a:prstGeom>
          <a:noFill/>
        </p:spPr>
        <p:txBody>
          <a:bodyPr wrap="square" lIns="0" tIns="0" rIns="0" bIns="0">
            <a:spAutoFit/>
          </a:bodyPr>
          <a:lstStyle/>
          <a:p>
            <a:pPr>
              <a:defRPr sz="2100" b="1">
                <a:solidFill>
                  <a:srgbClr val="FFFFFF"/>
                </a:solidFill>
                <a:latin typeface="Segoe UI"/>
              </a:defRPr>
            </a:pPr>
            <a:r>
              <a:t>Final System Architecture &amp; Data Pipeline</a:t>
            </a:r>
          </a:p>
        </p:txBody>
      </p:sp>
      <p:sp>
        <p:nvSpPr>
          <p:cNvPr id="5" name="TextBox 4"/>
          <p:cNvSpPr txBox="1"/>
          <p:nvPr/>
        </p:nvSpPr>
        <p:spPr>
          <a:xfrm>
            <a:off x="731520" y="1078992"/>
            <a:ext cx="10698480" cy="320040"/>
          </a:xfrm>
          <a:prstGeom prst="rect">
            <a:avLst/>
          </a:prstGeom>
          <a:noFill/>
        </p:spPr>
        <p:txBody>
          <a:bodyPr wrap="square" lIns="0" tIns="0" rIns="0" bIns="0">
            <a:spAutoFit/>
          </a:bodyPr>
          <a:lstStyle/>
          <a:p>
            <a:pPr>
              <a:defRPr sz="1100">
                <a:solidFill>
                  <a:srgbClr val="94A3B8"/>
                </a:solidFill>
                <a:latin typeface="Segoe UI"/>
              </a:defRPr>
            </a:pPr>
            <a:r>
              <a:t>Four-Stage Modular Architecture Implemented in R with Strict Separation of Concerns</a:t>
            </a:r>
          </a:p>
        </p:txBody>
      </p:sp>
      <p:sp>
        <p:nvSpPr>
          <p:cNvPr id="6" name="TextBox 5"/>
          <p:cNvSpPr txBox="1"/>
          <p:nvPr/>
        </p:nvSpPr>
        <p:spPr>
          <a:xfrm>
            <a:off x="731520" y="6492240"/>
            <a:ext cx="9144000" cy="274320"/>
          </a:xfrm>
          <a:prstGeom prst="rect">
            <a:avLst/>
          </a:prstGeom>
          <a:noFill/>
        </p:spPr>
        <p:txBody>
          <a:bodyPr wrap="none" lIns="0" tIns="0" rIns="0" bIns="0">
            <a:spAutoFit/>
          </a:bodyPr>
          <a:lstStyle/>
          <a:p>
            <a:pPr>
              <a:defRPr sz="900">
                <a:solidFill>
                  <a:srgbClr val="94A3B8"/>
                </a:solidFill>
                <a:latin typeface="Segoe UI"/>
              </a:defRPr>
            </a:pPr>
            <a:r>
              <a:t>LOANWISER  |  Review 2: Implementation &amp; Results  |  S. Karpagam (24BDS1210) &amp; Shruti Chaturvedi (24BDS1003)</a:t>
            </a:r>
          </a:p>
        </p:txBody>
      </p:sp>
      <p:sp>
        <p:nvSpPr>
          <p:cNvPr id="7" name="TextBox 6"/>
          <p:cNvSpPr txBox="1"/>
          <p:nvPr/>
        </p:nvSpPr>
        <p:spPr>
          <a:xfrm>
            <a:off x="10515600" y="6492240"/>
            <a:ext cx="914400" cy="274320"/>
          </a:xfrm>
          <a:prstGeom prst="rect">
            <a:avLst/>
          </a:prstGeom>
          <a:noFill/>
        </p:spPr>
        <p:txBody>
          <a:bodyPr wrap="none" lIns="0" tIns="0" rIns="0" bIns="0">
            <a:spAutoFit/>
          </a:bodyPr>
          <a:lstStyle/>
          <a:p>
            <a:pPr algn="r">
              <a:defRPr sz="900" b="1">
                <a:solidFill>
                  <a:srgbClr val="38BDF8"/>
                </a:solidFill>
                <a:latin typeface="Segoe UI"/>
              </a:defRPr>
            </a:pPr>
            <a:r>
              <a:t>3 / 15</a:t>
            </a:r>
          </a:p>
        </p:txBody>
      </p:sp>
      <p:sp>
        <p:nvSpPr>
          <p:cNvPr id="8" name="Rounded Rectangle 7"/>
          <p:cNvSpPr/>
          <p:nvPr/>
        </p:nvSpPr>
        <p:spPr>
          <a:xfrm>
            <a:off x="731520" y="1508760"/>
            <a:ext cx="2542032" cy="470916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645920"/>
            <a:ext cx="2212848" cy="4379976"/>
          </a:xfrm>
          <a:prstGeom prst="rect">
            <a:avLst/>
          </a:prstGeom>
          <a:noFill/>
        </p:spPr>
        <p:txBody>
          <a:bodyPr wrap="square">
            <a:spAutoFit/>
          </a:bodyPr>
          <a:lstStyle/>
          <a:p>
            <a:pPr>
              <a:defRPr sz="1000" b="1">
                <a:solidFill>
                  <a:srgbClr val="38BDF8"/>
                </a:solidFill>
                <a:latin typeface="Segoe UI"/>
              </a:defRPr>
            </a:pPr>
            <a:r>
              <a:t>STAGE 01</a:t>
            </a:r>
          </a:p>
          <a:p>
            <a:pPr>
              <a:spcBef>
                <a:spcPts val="200"/>
              </a:spcBef>
              <a:defRPr sz="1400" b="1">
                <a:solidFill>
                  <a:srgbClr val="FFFFFF"/>
                </a:solidFill>
                <a:latin typeface="Segoe UI"/>
              </a:defRPr>
            </a:pPr>
            <a:r>
              <a:t>Ingestion &amp; Audit</a:t>
            </a:r>
          </a:p>
          <a:p>
            <a:pPr>
              <a:spcBef>
                <a:spcPts val="400"/>
              </a:spcBef>
              <a:defRPr sz="850">
                <a:solidFill>
                  <a:srgbClr val="38BDF8"/>
                </a:solidFill>
                <a:latin typeface="Consolas"/>
              </a:defRPr>
            </a:pPr>
            <a:r>
              <a:t>Module: R/load_data.R</a:t>
            </a:r>
          </a:p>
          <a:p>
            <a:pPr>
              <a:spcBef>
                <a:spcPts val="400"/>
              </a:spcBef>
              <a:defRPr sz="950">
                <a:solidFill>
                  <a:srgbClr val="CBD5E1"/>
                </a:solidFill>
                <a:latin typeface="Segoe UI"/>
              </a:defRPr>
            </a:pPr>
            <a:r>
              <a:t>• Source: Kaggle data/train.csv (4,269 rows x 13 cols)</a:t>
            </a:r>
          </a:p>
          <a:p>
            <a:pPr>
              <a:spcBef>
                <a:spcPts val="400"/>
              </a:spcBef>
              <a:defRPr sz="950">
                <a:solidFill>
                  <a:srgbClr val="CBD5E1"/>
                </a:solidFill>
                <a:latin typeface="Segoe UI"/>
              </a:defRPr>
            </a:pPr>
            <a:r>
              <a:t>• Automated file validation &amp; dimension check</a:t>
            </a:r>
          </a:p>
          <a:p>
            <a:pPr>
              <a:spcBef>
                <a:spcPts val="400"/>
              </a:spcBef>
              <a:defRPr sz="950">
                <a:solidFill>
                  <a:srgbClr val="CBD5E1"/>
                </a:solidFill>
                <a:latin typeface="Segoe UI"/>
              </a:defRPr>
            </a:pPr>
            <a:r>
              <a:t>• Safe snake_case name sanitizer (clean_names_safe)</a:t>
            </a:r>
          </a:p>
          <a:p>
            <a:pPr>
              <a:spcBef>
                <a:spcPts val="400"/>
              </a:spcBef>
              <a:defRPr sz="950">
                <a:solidFill>
                  <a:srgbClr val="CBD5E1"/>
                </a:solidFill>
                <a:latin typeface="Segoe UI"/>
              </a:defRPr>
            </a:pPr>
            <a:r>
              <a:t>• 0 missing values verified</a:t>
            </a:r>
          </a:p>
          <a:p>
            <a:pPr>
              <a:spcBef>
                <a:spcPts val="400"/>
              </a:spcBef>
              <a:defRPr sz="950">
                <a:solidFill>
                  <a:srgbClr val="CBD5E1"/>
                </a:solidFill>
                <a:latin typeface="Segoe UI"/>
              </a:defRPr>
            </a:pPr>
            <a:r>
              <a:t>• Target standardized: 1 = Approved, 0 = Rejected</a:t>
            </a:r>
          </a:p>
          <a:p>
            <a:pPr>
              <a:spcBef>
                <a:spcPts val="1000"/>
              </a:spcBef>
              <a:defRPr sz="900" b="1">
                <a:solidFill>
                  <a:srgbClr val="10B981"/>
                </a:solidFill>
                <a:latin typeface="Segoe UI"/>
              </a:defRPr>
            </a:pPr>
            <a:r>
              <a:t>Stack: Base R • read.csv • regex</a:t>
            </a:r>
          </a:p>
        </p:txBody>
      </p:sp>
      <p:sp>
        <p:nvSpPr>
          <p:cNvPr id="10" name="Rounded Rectangle 9"/>
          <p:cNvSpPr/>
          <p:nvPr/>
        </p:nvSpPr>
        <p:spPr>
          <a:xfrm>
            <a:off x="3456432" y="1508760"/>
            <a:ext cx="2542032" cy="470916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21024" y="1645920"/>
            <a:ext cx="2212848" cy="4379976"/>
          </a:xfrm>
          <a:prstGeom prst="rect">
            <a:avLst/>
          </a:prstGeom>
          <a:noFill/>
        </p:spPr>
        <p:txBody>
          <a:bodyPr wrap="square">
            <a:spAutoFit/>
          </a:bodyPr>
          <a:lstStyle/>
          <a:p>
            <a:pPr>
              <a:defRPr sz="1000" b="1">
                <a:solidFill>
                  <a:srgbClr val="38BDF8"/>
                </a:solidFill>
                <a:latin typeface="Segoe UI"/>
              </a:defRPr>
            </a:pPr>
            <a:r>
              <a:t>STAGE 02</a:t>
            </a:r>
          </a:p>
          <a:p>
            <a:pPr>
              <a:spcBef>
                <a:spcPts val="200"/>
              </a:spcBef>
              <a:defRPr sz="1400" b="1">
                <a:solidFill>
                  <a:srgbClr val="FFFFFF"/>
                </a:solidFill>
                <a:latin typeface="Segoe UI"/>
              </a:defRPr>
            </a:pPr>
            <a:r>
              <a:t>Preprocessing &amp; Ratios</a:t>
            </a:r>
          </a:p>
          <a:p>
            <a:pPr>
              <a:spcBef>
                <a:spcPts val="400"/>
              </a:spcBef>
              <a:defRPr sz="850">
                <a:solidFill>
                  <a:srgbClr val="38BDF8"/>
                </a:solidFill>
                <a:latin typeface="Consolas"/>
              </a:defRPr>
            </a:pPr>
            <a:r>
              <a:t>Module: R/data_preprocessing.R</a:t>
            </a:r>
            <a:br/>
            <a:r>
              <a:t>R/feature_engineering.R</a:t>
            </a:r>
          </a:p>
          <a:p>
            <a:pPr>
              <a:spcBef>
                <a:spcPts val="400"/>
              </a:spcBef>
              <a:defRPr sz="950">
                <a:solidFill>
                  <a:srgbClr val="CBD5E1"/>
                </a:solidFill>
                <a:latin typeface="Segoe UI"/>
              </a:defRPr>
            </a:pPr>
            <a:r>
              <a:t>• Stratified 80/20 train/test split (seed = 42)</a:t>
            </a:r>
          </a:p>
          <a:p>
            <a:pPr>
              <a:spcBef>
                <a:spcPts val="400"/>
              </a:spcBef>
              <a:defRPr sz="950">
                <a:solidFill>
                  <a:srgbClr val="CBD5E1"/>
                </a:solidFill>
                <a:latin typeface="Segoe UI"/>
              </a:defRPr>
            </a:pPr>
            <a:r>
              <a:t>• Zero data leakage: imputer learned on train set</a:t>
            </a:r>
          </a:p>
          <a:p>
            <a:pPr>
              <a:spcBef>
                <a:spcPts val="400"/>
              </a:spcBef>
              <a:defRPr sz="950">
                <a:solidFill>
                  <a:srgbClr val="CBD5E1"/>
                </a:solidFill>
                <a:latin typeface="Segoe UI"/>
              </a:defRPr>
            </a:pPr>
            <a:r>
              <a:t>• 13 derived financial metrics computed:</a:t>
            </a:r>
          </a:p>
          <a:p>
            <a:pPr>
              <a:spcBef>
                <a:spcPts val="400"/>
              </a:spcBef>
              <a:defRPr sz="950">
                <a:solidFill>
                  <a:srgbClr val="CBD5E1"/>
                </a:solidFill>
                <a:latin typeface="Segoe UI"/>
              </a:defRPr>
            </a:pPr>
            <a:r>
              <a:t>•   - monthly_income = inc / 12</a:t>
            </a:r>
          </a:p>
          <a:p>
            <a:pPr>
              <a:spcBef>
                <a:spcPts val="400"/>
              </a:spcBef>
              <a:defRPr sz="950">
                <a:solidFill>
                  <a:srgbClr val="CBD5E1"/>
                </a:solidFill>
                <a:latin typeface="Segoe UI"/>
              </a:defRPr>
            </a:pPr>
            <a:r>
              <a:t>•   - total_assets = sum of 4 asset classes</a:t>
            </a:r>
          </a:p>
          <a:p>
            <a:pPr>
              <a:spcBef>
                <a:spcPts val="400"/>
              </a:spcBef>
              <a:defRPr sz="950">
                <a:solidFill>
                  <a:srgbClr val="CBD5E1"/>
                </a:solidFill>
                <a:latin typeface="Segoe UI"/>
              </a:defRPr>
            </a:pPr>
            <a:r>
              <a:t>•   - loan_to_income &amp; loan_to_asset</a:t>
            </a:r>
          </a:p>
          <a:p>
            <a:pPr>
              <a:spcBef>
                <a:spcPts val="400"/>
              </a:spcBef>
              <a:defRPr sz="950">
                <a:solidFill>
                  <a:srgbClr val="CBD5E1"/>
                </a:solidFill>
                <a:latin typeface="Segoe UI"/>
              </a:defRPr>
            </a:pPr>
            <a:r>
              <a:t>•   - DTI, LTV &amp; repayment buffers</a:t>
            </a:r>
          </a:p>
          <a:p>
            <a:pPr>
              <a:spcBef>
                <a:spcPts val="1000"/>
              </a:spcBef>
              <a:defRPr sz="900" b="1">
                <a:solidFill>
                  <a:srgbClr val="10B981"/>
                </a:solidFill>
                <a:latin typeface="Segoe UI"/>
              </a:defRPr>
            </a:pPr>
            <a:r>
              <a:t>Stack: dplyr • scales • preproc_meta.rds</a:t>
            </a:r>
          </a:p>
        </p:txBody>
      </p:sp>
      <p:sp>
        <p:nvSpPr>
          <p:cNvPr id="12" name="Rounded Rectangle 11"/>
          <p:cNvSpPr/>
          <p:nvPr/>
        </p:nvSpPr>
        <p:spPr>
          <a:xfrm>
            <a:off x="6181344" y="1508760"/>
            <a:ext cx="2542032" cy="470916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5936" y="1645920"/>
            <a:ext cx="2212848" cy="4379976"/>
          </a:xfrm>
          <a:prstGeom prst="rect">
            <a:avLst/>
          </a:prstGeom>
          <a:noFill/>
        </p:spPr>
        <p:txBody>
          <a:bodyPr wrap="square">
            <a:spAutoFit/>
          </a:bodyPr>
          <a:lstStyle/>
          <a:p>
            <a:pPr>
              <a:defRPr sz="1000" b="1">
                <a:solidFill>
                  <a:srgbClr val="38BDF8"/>
                </a:solidFill>
                <a:latin typeface="Segoe UI"/>
              </a:defRPr>
            </a:pPr>
            <a:r>
              <a:t>STAGE 03</a:t>
            </a:r>
          </a:p>
          <a:p>
            <a:pPr>
              <a:spcBef>
                <a:spcPts val="200"/>
              </a:spcBef>
              <a:defRPr sz="1400" b="1">
                <a:solidFill>
                  <a:srgbClr val="FFFFFF"/>
                </a:solidFill>
                <a:latin typeface="Segoe UI"/>
              </a:defRPr>
            </a:pPr>
            <a:r>
              <a:t>ML Models &amp; Math</a:t>
            </a:r>
          </a:p>
          <a:p>
            <a:pPr>
              <a:spcBef>
                <a:spcPts val="400"/>
              </a:spcBef>
              <a:defRPr sz="850">
                <a:solidFill>
                  <a:srgbClr val="38BDF8"/>
                </a:solidFill>
                <a:latin typeface="Consolas"/>
              </a:defRPr>
            </a:pPr>
            <a:r>
              <a:t>Module: R/financial_calculations.R</a:t>
            </a:r>
            <a:br/>
            <a:r>
              <a:t>R/ml_models.R • R/risk_engine.R</a:t>
            </a:r>
          </a:p>
          <a:p>
            <a:pPr>
              <a:spcBef>
                <a:spcPts val="400"/>
              </a:spcBef>
              <a:defRPr sz="950">
                <a:solidFill>
                  <a:srgbClr val="CBD5E1"/>
                </a:solidFill>
                <a:latin typeface="Segoe UI"/>
              </a:defRPr>
            </a:pPr>
            <a:r>
              <a:t>• Exact monthly EMI amortization</a:t>
            </a:r>
          </a:p>
          <a:p>
            <a:pPr>
              <a:spcBef>
                <a:spcPts val="400"/>
              </a:spcBef>
              <a:defRPr sz="950">
                <a:solidFill>
                  <a:srgbClr val="CBD5E1"/>
                </a:solidFill>
                <a:latin typeface="Segoe UI"/>
              </a:defRPr>
            </a:pPr>
            <a:r>
              <a:t>• 3 Supervised ML Architectures:</a:t>
            </a:r>
          </a:p>
          <a:p>
            <a:pPr>
              <a:spcBef>
                <a:spcPts val="400"/>
              </a:spcBef>
              <a:defRPr sz="950">
                <a:solidFill>
                  <a:srgbClr val="CBD5E1"/>
                </a:solidFill>
                <a:latin typeface="Segoe UI"/>
              </a:defRPr>
            </a:pPr>
            <a:r>
              <a:t>•   - Logistic Regression (GLM)</a:t>
            </a:r>
          </a:p>
          <a:p>
            <a:pPr>
              <a:spcBef>
                <a:spcPts val="400"/>
              </a:spcBef>
              <a:defRPr sz="950">
                <a:solidFill>
                  <a:srgbClr val="CBD5E1"/>
                </a:solidFill>
                <a:latin typeface="Segoe UI"/>
              </a:defRPr>
            </a:pPr>
            <a:r>
              <a:t>•   - Random Forest (120 trees)</a:t>
            </a:r>
          </a:p>
          <a:p>
            <a:pPr>
              <a:spcBef>
                <a:spcPts val="400"/>
              </a:spcBef>
              <a:defRPr sz="950">
                <a:solidFill>
                  <a:srgbClr val="CBD5E1"/>
                </a:solidFill>
                <a:latin typeface="Segoe UI"/>
              </a:defRPr>
            </a:pPr>
            <a:r>
              <a:t>•   - XGBoost (Extreme Gradient Boost)</a:t>
            </a:r>
          </a:p>
          <a:p>
            <a:pPr>
              <a:spcBef>
                <a:spcPts val="400"/>
              </a:spcBef>
              <a:defRPr sz="950">
                <a:solidFill>
                  <a:srgbClr val="CBD5E1"/>
                </a:solidFill>
                <a:latin typeface="Segoe UI"/>
              </a:defRPr>
            </a:pPr>
            <a:r>
              <a:t>• Stratified 5-Fold Cross-Validation</a:t>
            </a:r>
          </a:p>
          <a:p>
            <a:pPr>
              <a:spcBef>
                <a:spcPts val="400"/>
              </a:spcBef>
              <a:defRPr sz="950">
                <a:solidFill>
                  <a:srgbClr val="CBD5E1"/>
                </a:solidFill>
                <a:latin typeface="Segoe UI"/>
              </a:defRPr>
            </a:pPr>
            <a:r>
              <a:t>• 0–100 Multi-Factor Risk Scoring</a:t>
            </a:r>
          </a:p>
          <a:p>
            <a:pPr>
              <a:spcBef>
                <a:spcPts val="1000"/>
              </a:spcBef>
              <a:defRPr sz="900" b="1">
                <a:solidFill>
                  <a:srgbClr val="10B981"/>
                </a:solidFill>
                <a:latin typeface="Segoe UI"/>
              </a:defRPr>
            </a:pPr>
            <a:r>
              <a:t>Stack: randomForest • xgboost • pROC</a:t>
            </a:r>
          </a:p>
        </p:txBody>
      </p:sp>
      <p:sp>
        <p:nvSpPr>
          <p:cNvPr id="14" name="Rounded Rectangle 13"/>
          <p:cNvSpPr/>
          <p:nvPr/>
        </p:nvSpPr>
        <p:spPr>
          <a:xfrm>
            <a:off x="8906256" y="1508760"/>
            <a:ext cx="2542032" cy="470916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70848" y="1645920"/>
            <a:ext cx="2212848" cy="4379976"/>
          </a:xfrm>
          <a:prstGeom prst="rect">
            <a:avLst/>
          </a:prstGeom>
          <a:noFill/>
        </p:spPr>
        <p:txBody>
          <a:bodyPr wrap="square">
            <a:spAutoFit/>
          </a:bodyPr>
          <a:lstStyle/>
          <a:p>
            <a:pPr>
              <a:defRPr sz="1000" b="1">
                <a:solidFill>
                  <a:srgbClr val="38BDF8"/>
                </a:solidFill>
                <a:latin typeface="Segoe UI"/>
              </a:defRPr>
            </a:pPr>
            <a:r>
              <a:t>STAGE 04</a:t>
            </a:r>
          </a:p>
          <a:p>
            <a:pPr>
              <a:spcBef>
                <a:spcPts val="200"/>
              </a:spcBef>
              <a:defRPr sz="1400" b="1">
                <a:solidFill>
                  <a:srgbClr val="FFFFFF"/>
                </a:solidFill>
                <a:latin typeface="Segoe UI"/>
              </a:defRPr>
            </a:pPr>
            <a:r>
              <a:t>Interactive UI</a:t>
            </a:r>
          </a:p>
          <a:p>
            <a:pPr>
              <a:spcBef>
                <a:spcPts val="400"/>
              </a:spcBef>
              <a:defRPr sz="850">
                <a:solidFill>
                  <a:srgbClr val="38BDF8"/>
                </a:solidFill>
                <a:latin typeface="Consolas"/>
              </a:defRPr>
            </a:pPr>
            <a:r>
              <a:t>Module: app.R</a:t>
            </a:r>
            <a:br/>
            <a:r>
              <a:t>www/style.css</a:t>
            </a:r>
          </a:p>
          <a:p>
            <a:pPr>
              <a:spcBef>
                <a:spcPts val="400"/>
              </a:spcBef>
              <a:defRPr sz="950">
                <a:solidFill>
                  <a:srgbClr val="CBD5E1"/>
                </a:solidFill>
                <a:latin typeface="Segoe UI"/>
              </a:defRPr>
            </a:pPr>
            <a:r>
              <a:t>• 10 interactive dashboard tabs</a:t>
            </a:r>
          </a:p>
          <a:p>
            <a:pPr>
              <a:spcBef>
                <a:spcPts val="400"/>
              </a:spcBef>
              <a:defRPr sz="950">
                <a:solidFill>
                  <a:srgbClr val="CBD5E1"/>
                </a:solidFill>
                <a:latin typeface="Segoe UI"/>
              </a:defRPr>
            </a:pPr>
            <a:r>
              <a:t>• Real-time reactive execution graph</a:t>
            </a:r>
          </a:p>
          <a:p>
            <a:pPr>
              <a:spcBef>
                <a:spcPts val="400"/>
              </a:spcBef>
              <a:defRPr sz="950">
                <a:solidFill>
                  <a:srgbClr val="CBD5E1"/>
                </a:solidFill>
                <a:latin typeface="Segoe UI"/>
              </a:defRPr>
            </a:pPr>
            <a:r>
              <a:t>• Real-time model prediction (&lt;10ms)</a:t>
            </a:r>
          </a:p>
          <a:p>
            <a:pPr>
              <a:spcBef>
                <a:spcPts val="400"/>
              </a:spcBef>
              <a:defRPr sz="950">
                <a:solidFill>
                  <a:srgbClr val="CBD5E1"/>
                </a:solidFill>
                <a:latin typeface="Segoe UI"/>
              </a:defRPr>
            </a:pPr>
            <a:r>
              <a:t>• What-If sensitivity stress simulation</a:t>
            </a:r>
          </a:p>
          <a:p>
            <a:pPr>
              <a:spcBef>
                <a:spcPts val="400"/>
              </a:spcBef>
              <a:defRPr sz="950">
                <a:solidFill>
                  <a:srgbClr val="CBD5E1"/>
                </a:solidFill>
                <a:latin typeface="Segoe UI"/>
              </a:defRPr>
            </a:pPr>
            <a:r>
              <a:t>• Month-by-month amortization ledger</a:t>
            </a:r>
          </a:p>
          <a:p>
            <a:pPr>
              <a:spcBef>
                <a:spcPts val="400"/>
              </a:spcBef>
              <a:defRPr sz="950">
                <a:solidFill>
                  <a:srgbClr val="CBD5E1"/>
                </a:solidFill>
                <a:latin typeface="Segoe UI"/>
              </a:defRPr>
            </a:pPr>
            <a:r>
              <a:t>• One-click CSV export functionality</a:t>
            </a:r>
          </a:p>
          <a:p>
            <a:pPr>
              <a:spcBef>
                <a:spcPts val="1000"/>
              </a:spcBef>
              <a:defRPr sz="900" b="1">
                <a:solidFill>
                  <a:srgbClr val="10B981"/>
                </a:solidFill>
                <a:latin typeface="Segoe UI"/>
              </a:defRPr>
            </a:pPr>
            <a:r>
              <a:t>Stack: Shiny • shinydashboard • Plotly • DT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Segoe UI"/>
              </a:defRPr>
            </a:pPr>
            <a:r>
              <a:t>LOANWISER  •  REVIEW 2: IMPLEMENTATION &amp; RESULTS</a:t>
            </a:r>
          </a:p>
        </p:txBody>
      </p:sp>
      <p:sp>
        <p:nvSpPr>
          <p:cNvPr id="4" name="TextBox 3"/>
          <p:cNvSpPr txBox="1"/>
          <p:nvPr/>
        </p:nvSpPr>
        <p:spPr>
          <a:xfrm>
            <a:off x="731520" y="594360"/>
            <a:ext cx="10698480" cy="502920"/>
          </a:xfrm>
          <a:prstGeom prst="rect">
            <a:avLst/>
          </a:prstGeom>
          <a:noFill/>
        </p:spPr>
        <p:txBody>
          <a:bodyPr wrap="square" lIns="0" tIns="0" rIns="0" bIns="0">
            <a:spAutoFit/>
          </a:bodyPr>
          <a:lstStyle/>
          <a:p>
            <a:pPr>
              <a:defRPr sz="2100" b="1">
                <a:solidFill>
                  <a:srgbClr val="FFFFFF"/>
                </a:solidFill>
                <a:latin typeface="Segoe UI"/>
              </a:defRPr>
            </a:pPr>
            <a:r>
              <a:t>Technology Stack &amp; Development Environment</a:t>
            </a:r>
          </a:p>
        </p:txBody>
      </p:sp>
      <p:sp>
        <p:nvSpPr>
          <p:cNvPr id="5" name="TextBox 4"/>
          <p:cNvSpPr txBox="1"/>
          <p:nvPr/>
        </p:nvSpPr>
        <p:spPr>
          <a:xfrm>
            <a:off x="731520" y="1078992"/>
            <a:ext cx="10698480" cy="320040"/>
          </a:xfrm>
          <a:prstGeom prst="rect">
            <a:avLst/>
          </a:prstGeom>
          <a:noFill/>
        </p:spPr>
        <p:txBody>
          <a:bodyPr wrap="square" lIns="0" tIns="0" rIns="0" bIns="0">
            <a:spAutoFit/>
          </a:bodyPr>
          <a:lstStyle/>
          <a:p>
            <a:pPr>
              <a:defRPr sz="1100">
                <a:solidFill>
                  <a:srgbClr val="94A3B8"/>
                </a:solidFill>
                <a:latin typeface="Segoe UI"/>
              </a:defRPr>
            </a:pPr>
            <a:r>
              <a:t>Verified R Programming Libraries, Machine Learning Ensembles, and Interactive UI Packages</a:t>
            </a:r>
          </a:p>
        </p:txBody>
      </p:sp>
      <p:sp>
        <p:nvSpPr>
          <p:cNvPr id="6" name="TextBox 5"/>
          <p:cNvSpPr txBox="1"/>
          <p:nvPr/>
        </p:nvSpPr>
        <p:spPr>
          <a:xfrm>
            <a:off x="731520" y="6492240"/>
            <a:ext cx="9144000" cy="274320"/>
          </a:xfrm>
          <a:prstGeom prst="rect">
            <a:avLst/>
          </a:prstGeom>
          <a:noFill/>
        </p:spPr>
        <p:txBody>
          <a:bodyPr wrap="none" lIns="0" tIns="0" rIns="0" bIns="0">
            <a:spAutoFit/>
          </a:bodyPr>
          <a:lstStyle/>
          <a:p>
            <a:pPr>
              <a:defRPr sz="900">
                <a:solidFill>
                  <a:srgbClr val="94A3B8"/>
                </a:solidFill>
                <a:latin typeface="Segoe UI"/>
              </a:defRPr>
            </a:pPr>
            <a:r>
              <a:t>LOANWISER  |  Review 2: Implementation &amp; Results  |  S. Karpagam (24BDS1210) &amp; Shruti Chaturvedi (24BDS1003)</a:t>
            </a:r>
          </a:p>
        </p:txBody>
      </p:sp>
      <p:sp>
        <p:nvSpPr>
          <p:cNvPr id="7" name="TextBox 6"/>
          <p:cNvSpPr txBox="1"/>
          <p:nvPr/>
        </p:nvSpPr>
        <p:spPr>
          <a:xfrm>
            <a:off x="10515600" y="6492240"/>
            <a:ext cx="914400" cy="274320"/>
          </a:xfrm>
          <a:prstGeom prst="rect">
            <a:avLst/>
          </a:prstGeom>
          <a:noFill/>
        </p:spPr>
        <p:txBody>
          <a:bodyPr wrap="none" lIns="0" tIns="0" rIns="0" bIns="0">
            <a:spAutoFit/>
          </a:bodyPr>
          <a:lstStyle/>
          <a:p>
            <a:pPr algn="r">
              <a:defRPr sz="900" b="1">
                <a:solidFill>
                  <a:srgbClr val="38BDF8"/>
                </a:solidFill>
                <a:latin typeface="Segoe UI"/>
              </a:defRPr>
            </a:pPr>
            <a:r>
              <a:t>4 / 15</a:t>
            </a:r>
          </a:p>
        </p:txBody>
      </p:sp>
      <p:sp>
        <p:nvSpPr>
          <p:cNvPr id="8" name="Rounded Rectangle 7"/>
          <p:cNvSpPr/>
          <p:nvPr/>
        </p:nvSpPr>
        <p:spPr>
          <a:xfrm>
            <a:off x="731520" y="1508760"/>
            <a:ext cx="5212080" cy="224028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4846320" cy="1965960"/>
          </a:xfrm>
          <a:prstGeom prst="rect">
            <a:avLst/>
          </a:prstGeom>
          <a:noFill/>
        </p:spPr>
        <p:txBody>
          <a:bodyPr wrap="square">
            <a:spAutoFit/>
          </a:bodyPr>
          <a:lstStyle/>
          <a:p>
            <a:pPr>
              <a:defRPr sz="950" b="1">
                <a:solidFill>
                  <a:srgbClr val="38BDF8"/>
                </a:solidFill>
                <a:latin typeface="Segoe UI"/>
              </a:defRPr>
            </a:pPr>
            <a:r>
              <a:t>FOUNDATION &amp; PIPELINE</a:t>
            </a:r>
          </a:p>
          <a:p>
            <a:pPr>
              <a:spcBef>
                <a:spcPts val="200"/>
              </a:spcBef>
              <a:defRPr sz="1300" b="1">
                <a:solidFill>
                  <a:srgbClr val="FFFFFF"/>
                </a:solidFill>
                <a:latin typeface="Segoe UI"/>
              </a:defRPr>
            </a:pPr>
            <a:r>
              <a:t>Core Language &amp; Data Wrangling</a:t>
            </a:r>
          </a:p>
          <a:p>
            <a:pPr>
              <a:spcBef>
                <a:spcPts val="300"/>
              </a:spcBef>
              <a:defRPr sz="950" b="1">
                <a:solidFill>
                  <a:srgbClr val="38BDF8"/>
                </a:solidFill>
                <a:latin typeface="Segoe UI"/>
              </a:defRPr>
            </a:pPr>
            <a:r>
              <a:t>• R 4.6.1 (ucrt): </a:t>
            </a:r>
            <a:r>
              <a:rPr b="0">
                <a:solidFill>
                  <a:srgbClr val="CBD5E1"/>
                </a:solidFill>
              </a:rPr>
              <a:t>High-performance statistical computing runtime environment.</a:t>
            </a:r>
          </a:p>
          <a:p>
            <a:pPr>
              <a:spcBef>
                <a:spcPts val="300"/>
              </a:spcBef>
              <a:defRPr sz="950" b="1">
                <a:solidFill>
                  <a:srgbClr val="38BDF8"/>
                </a:solidFill>
                <a:latin typeface="Segoe UI"/>
              </a:defRPr>
            </a:pPr>
            <a:r>
              <a:t>• tidyverse &amp; dplyr: </a:t>
            </a:r>
            <a:r>
              <a:rPr b="0">
                <a:solidFill>
                  <a:srgbClr val="CBD5E1"/>
                </a:solidFill>
              </a:rPr>
              <a:t>Declarative dataframe transformations and group-by pipelines.</a:t>
            </a:r>
          </a:p>
          <a:p>
            <a:pPr>
              <a:spcBef>
                <a:spcPts val="300"/>
              </a:spcBef>
              <a:defRPr sz="950" b="1">
                <a:solidFill>
                  <a:srgbClr val="38BDF8"/>
                </a:solidFill>
                <a:latin typeface="Segoe UI"/>
              </a:defRPr>
            </a:pPr>
            <a:r>
              <a:t>• janitor &amp; scales: </a:t>
            </a:r>
            <a:r>
              <a:rPr b="0">
                <a:solidFill>
                  <a:srgbClr val="CBD5E1"/>
                </a:solidFill>
              </a:rPr>
              <a:t>Safe snake_case naming and clean Indian currency (Rs) formatting.</a:t>
            </a:r>
          </a:p>
        </p:txBody>
      </p:sp>
      <p:sp>
        <p:nvSpPr>
          <p:cNvPr id="10" name="Rounded Rectangle 9"/>
          <p:cNvSpPr/>
          <p:nvPr/>
        </p:nvSpPr>
        <p:spPr>
          <a:xfrm>
            <a:off x="6248095" y="1508760"/>
            <a:ext cx="5212080" cy="224028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0975" y="1645920"/>
            <a:ext cx="4846320" cy="1965960"/>
          </a:xfrm>
          <a:prstGeom prst="rect">
            <a:avLst/>
          </a:prstGeom>
          <a:noFill/>
        </p:spPr>
        <p:txBody>
          <a:bodyPr wrap="square">
            <a:spAutoFit/>
          </a:bodyPr>
          <a:lstStyle/>
          <a:p>
            <a:pPr>
              <a:defRPr sz="950" b="1">
                <a:solidFill>
                  <a:srgbClr val="38BDF8"/>
                </a:solidFill>
                <a:latin typeface="Segoe UI"/>
              </a:defRPr>
            </a:pPr>
            <a:r>
              <a:t>PREDICTIVE ENGINES</a:t>
            </a:r>
          </a:p>
          <a:p>
            <a:pPr>
              <a:spcBef>
                <a:spcPts val="200"/>
              </a:spcBef>
              <a:defRPr sz="1300" b="1">
                <a:solidFill>
                  <a:srgbClr val="FFFFFF"/>
                </a:solidFill>
                <a:latin typeface="Segoe UI"/>
              </a:defRPr>
            </a:pPr>
            <a:r>
              <a:t>Machine Learning &amp; Model Evaluation</a:t>
            </a:r>
          </a:p>
          <a:p>
            <a:pPr>
              <a:spcBef>
                <a:spcPts val="300"/>
              </a:spcBef>
              <a:defRPr sz="950" b="1">
                <a:solidFill>
                  <a:srgbClr val="38BDF8"/>
                </a:solidFill>
                <a:latin typeface="Segoe UI"/>
              </a:defRPr>
            </a:pPr>
            <a:r>
              <a:t>• randomForest (v4.7): </a:t>
            </a:r>
            <a:r>
              <a:rPr b="0">
                <a:solidFill>
                  <a:srgbClr val="CBD5E1"/>
                </a:solidFill>
              </a:rPr>
              <a:t>120-tree bagging ensemble capturing non-linear asset interactions.</a:t>
            </a:r>
          </a:p>
          <a:p>
            <a:pPr>
              <a:spcBef>
                <a:spcPts val="300"/>
              </a:spcBef>
              <a:defRPr sz="950" b="1">
                <a:solidFill>
                  <a:srgbClr val="38BDF8"/>
                </a:solidFill>
                <a:latin typeface="Segoe UI"/>
              </a:defRPr>
            </a:pPr>
            <a:r>
              <a:t>• xgboost (v1.7+): </a:t>
            </a:r>
            <a:r>
              <a:rPr b="0">
                <a:solidFill>
                  <a:srgbClr val="CBD5E1"/>
                </a:solidFill>
              </a:rPr>
              <a:t>Gradient boosted tree algorithm with L1/L2 regularization.</a:t>
            </a:r>
          </a:p>
          <a:p>
            <a:pPr>
              <a:spcBef>
                <a:spcPts val="300"/>
              </a:spcBef>
              <a:defRPr sz="950" b="1">
                <a:solidFill>
                  <a:srgbClr val="38BDF8"/>
                </a:solidFill>
                <a:latin typeface="Segoe UI"/>
              </a:defRPr>
            </a:pPr>
            <a:r>
              <a:t>• pROC (v1.18+): </a:t>
            </a:r>
            <a:r>
              <a:rPr b="0">
                <a:solidFill>
                  <a:srgbClr val="CBD5E1"/>
                </a:solidFill>
              </a:rPr>
              <a:t>Empirical ROC curve calculation, sensitivity/specificity &amp; AUC.</a:t>
            </a:r>
          </a:p>
          <a:p>
            <a:pPr>
              <a:spcBef>
                <a:spcPts val="300"/>
              </a:spcBef>
              <a:defRPr sz="950" b="1">
                <a:solidFill>
                  <a:srgbClr val="38BDF8"/>
                </a:solidFill>
                <a:latin typeface="Segoe UI"/>
              </a:defRPr>
            </a:pPr>
            <a:r>
              <a:t>• caret: </a:t>
            </a:r>
            <a:r>
              <a:rPr b="0">
                <a:solidFill>
                  <a:srgbClr val="CBD5E1"/>
                </a:solidFill>
              </a:rPr>
              <a:t>Stratified k-fold cross-validation partitioning and train control.</a:t>
            </a:r>
          </a:p>
        </p:txBody>
      </p:sp>
      <p:sp>
        <p:nvSpPr>
          <p:cNvPr id="12" name="Rounded Rectangle 11"/>
          <p:cNvSpPr/>
          <p:nvPr/>
        </p:nvSpPr>
        <p:spPr>
          <a:xfrm>
            <a:off x="731520" y="3977639"/>
            <a:ext cx="5212080" cy="224028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14799"/>
            <a:ext cx="4846320" cy="1965960"/>
          </a:xfrm>
          <a:prstGeom prst="rect">
            <a:avLst/>
          </a:prstGeom>
          <a:noFill/>
        </p:spPr>
        <p:txBody>
          <a:bodyPr wrap="square">
            <a:spAutoFit/>
          </a:bodyPr>
          <a:lstStyle/>
          <a:p>
            <a:pPr>
              <a:defRPr sz="950" b="1">
                <a:solidFill>
                  <a:srgbClr val="38BDF8"/>
                </a:solidFill>
                <a:latin typeface="Segoe UI"/>
              </a:defRPr>
            </a:pPr>
            <a:r>
              <a:t>INTERACTIVE DASHBOARD</a:t>
            </a:r>
          </a:p>
          <a:p>
            <a:pPr>
              <a:spcBef>
                <a:spcPts val="200"/>
              </a:spcBef>
              <a:defRPr sz="1300" b="1">
                <a:solidFill>
                  <a:srgbClr val="FFFFFF"/>
                </a:solidFill>
                <a:latin typeface="Segoe UI"/>
              </a:defRPr>
            </a:pPr>
            <a:r>
              <a:t>Frontend UI &amp; Reactive Web App</a:t>
            </a:r>
          </a:p>
          <a:p>
            <a:pPr>
              <a:spcBef>
                <a:spcPts val="300"/>
              </a:spcBef>
              <a:defRPr sz="950" b="1">
                <a:solidFill>
                  <a:srgbClr val="38BDF8"/>
                </a:solidFill>
                <a:latin typeface="Segoe UI"/>
              </a:defRPr>
            </a:pPr>
            <a:r>
              <a:t>• Shiny (v1.14.0): </a:t>
            </a:r>
            <a:r>
              <a:rPr b="0">
                <a:solidFill>
                  <a:srgbClr val="CBD5E1"/>
                </a:solidFill>
              </a:rPr>
              <a:t>Reactive server graph handling real-time inputs without page reloads.</a:t>
            </a:r>
          </a:p>
          <a:p>
            <a:pPr>
              <a:spcBef>
                <a:spcPts val="300"/>
              </a:spcBef>
              <a:defRPr sz="950" b="1">
                <a:solidFill>
                  <a:srgbClr val="38BDF8"/>
                </a:solidFill>
                <a:latin typeface="Segoe UI"/>
              </a:defRPr>
            </a:pPr>
            <a:r>
              <a:t>• shinydashboard: </a:t>
            </a:r>
            <a:r>
              <a:rPr b="0">
                <a:solidFill>
                  <a:srgbClr val="CBD5E1"/>
                </a:solidFill>
              </a:rPr>
              <a:t>Structured multi-tab enterprise layout with sidebar navigation.</a:t>
            </a:r>
          </a:p>
          <a:p>
            <a:pPr>
              <a:spcBef>
                <a:spcPts val="300"/>
              </a:spcBef>
              <a:defRPr sz="950" b="1">
                <a:solidFill>
                  <a:srgbClr val="38BDF8"/>
                </a:solidFill>
                <a:latin typeface="Segoe UI"/>
              </a:defRPr>
            </a:pPr>
            <a:r>
              <a:t>• Custom CSS (www/style.css): </a:t>
            </a:r>
            <a:r>
              <a:rPr b="0">
                <a:solidFill>
                  <a:srgbClr val="CBD5E1"/>
                </a:solidFill>
              </a:rPr>
              <a:t>Modern dark fintech theme with card styling and metric callouts.</a:t>
            </a:r>
          </a:p>
        </p:txBody>
      </p:sp>
      <p:sp>
        <p:nvSpPr>
          <p:cNvPr id="14" name="Rounded Rectangle 13"/>
          <p:cNvSpPr/>
          <p:nvPr/>
        </p:nvSpPr>
        <p:spPr>
          <a:xfrm>
            <a:off x="6248095" y="3977639"/>
            <a:ext cx="5212080" cy="224028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0975" y="4114799"/>
            <a:ext cx="4846320" cy="1965960"/>
          </a:xfrm>
          <a:prstGeom prst="rect">
            <a:avLst/>
          </a:prstGeom>
          <a:noFill/>
        </p:spPr>
        <p:txBody>
          <a:bodyPr wrap="square">
            <a:spAutoFit/>
          </a:bodyPr>
          <a:lstStyle/>
          <a:p>
            <a:pPr>
              <a:defRPr sz="950" b="1">
                <a:solidFill>
                  <a:srgbClr val="38BDF8"/>
                </a:solidFill>
                <a:latin typeface="Segoe UI"/>
              </a:defRPr>
            </a:pPr>
            <a:r>
              <a:t>REPORTING &amp; VISUALIZATION</a:t>
            </a:r>
          </a:p>
          <a:p>
            <a:pPr>
              <a:spcBef>
                <a:spcPts val="200"/>
              </a:spcBef>
              <a:defRPr sz="1300" b="1">
                <a:solidFill>
                  <a:srgbClr val="FFFFFF"/>
                </a:solidFill>
                <a:latin typeface="Segoe UI"/>
              </a:defRPr>
            </a:pPr>
            <a:r>
              <a:t>Interactive Visualizations &amp; Ledgers</a:t>
            </a:r>
          </a:p>
          <a:p>
            <a:pPr>
              <a:spcBef>
                <a:spcPts val="300"/>
              </a:spcBef>
              <a:defRPr sz="950" b="1">
                <a:solidFill>
                  <a:srgbClr val="38BDF8"/>
                </a:solidFill>
                <a:latin typeface="Segoe UI"/>
              </a:defRPr>
            </a:pPr>
            <a:r>
              <a:t>• Plotly (v4.10+): </a:t>
            </a:r>
            <a:r>
              <a:rPr b="0">
                <a:solidFill>
                  <a:srgbClr val="CBD5E1"/>
                </a:solidFill>
              </a:rPr>
              <a:t>Interactive WebGL gauges, waterfalls, donut charts, and ROC plots.</a:t>
            </a:r>
          </a:p>
          <a:p>
            <a:pPr>
              <a:spcBef>
                <a:spcPts val="300"/>
              </a:spcBef>
              <a:defRPr sz="950" b="1">
                <a:solidFill>
                  <a:srgbClr val="38BDF8"/>
                </a:solidFill>
                <a:latin typeface="Segoe UI"/>
              </a:defRPr>
            </a:pPr>
            <a:r>
              <a:t>• DT (v0.33+): </a:t>
            </a:r>
            <a:r>
              <a:rPr b="0">
                <a:solidFill>
                  <a:srgbClr val="CBD5E1"/>
                </a:solidFill>
              </a:rPr>
              <a:t>Dynamic JavaScript DataTables with sorting, pagination, and CSV export.</a:t>
            </a:r>
          </a:p>
          <a:p>
            <a:pPr>
              <a:spcBef>
                <a:spcPts val="300"/>
              </a:spcBef>
              <a:defRPr sz="950" b="1">
                <a:solidFill>
                  <a:srgbClr val="38BDF8"/>
                </a:solidFill>
                <a:latin typeface="Segoe UI"/>
              </a:defRPr>
            </a:pPr>
            <a:r>
              <a:t>• ggplot2: </a:t>
            </a:r>
            <a:r>
              <a:rPr b="0">
                <a:solidFill>
                  <a:srgbClr val="CBD5E1"/>
                </a:solidFill>
              </a:rPr>
              <a:t>10 publication-quality static PNG exploratory charts saved in plots/.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Segoe UI"/>
              </a:defRPr>
            </a:pPr>
            <a:r>
              <a:t>LOANWISER  •  REVIEW 2: IMPLEMENTATION &amp; RESULTS</a:t>
            </a:r>
          </a:p>
        </p:txBody>
      </p:sp>
      <p:sp>
        <p:nvSpPr>
          <p:cNvPr id="4" name="TextBox 3"/>
          <p:cNvSpPr txBox="1"/>
          <p:nvPr/>
        </p:nvSpPr>
        <p:spPr>
          <a:xfrm>
            <a:off x="731520" y="594360"/>
            <a:ext cx="10698480" cy="502920"/>
          </a:xfrm>
          <a:prstGeom prst="rect">
            <a:avLst/>
          </a:prstGeom>
          <a:noFill/>
        </p:spPr>
        <p:txBody>
          <a:bodyPr wrap="square" lIns="0" tIns="0" rIns="0" bIns="0">
            <a:spAutoFit/>
          </a:bodyPr>
          <a:lstStyle/>
          <a:p>
            <a:pPr>
              <a:defRPr sz="2100" b="1">
                <a:solidFill>
                  <a:srgbClr val="FFFFFF"/>
                </a:solidFill>
                <a:latin typeface="Segoe UI"/>
              </a:defRPr>
            </a:pPr>
            <a:r>
              <a:t>Kaggle Dataset &amp; Three-Tier Feature System</a:t>
            </a:r>
          </a:p>
        </p:txBody>
      </p:sp>
      <p:sp>
        <p:nvSpPr>
          <p:cNvPr id="5" name="TextBox 4"/>
          <p:cNvSpPr txBox="1"/>
          <p:nvPr/>
        </p:nvSpPr>
        <p:spPr>
          <a:xfrm>
            <a:off x="731520" y="1078992"/>
            <a:ext cx="10698480" cy="320040"/>
          </a:xfrm>
          <a:prstGeom prst="rect">
            <a:avLst/>
          </a:prstGeom>
          <a:noFill/>
        </p:spPr>
        <p:txBody>
          <a:bodyPr wrap="square" lIns="0" tIns="0" rIns="0" bIns="0">
            <a:spAutoFit/>
          </a:bodyPr>
          <a:lstStyle/>
          <a:p>
            <a:pPr>
              <a:defRPr sz="1100">
                <a:solidFill>
                  <a:srgbClr val="94A3B8"/>
                </a:solidFill>
                <a:latin typeface="Segoe UI"/>
              </a:defRPr>
            </a:pPr>
            <a:r>
              <a:t>Official Competition Schema, Partitioning Strategy, and Derived Financial Feature Engineering</a:t>
            </a:r>
          </a:p>
        </p:txBody>
      </p:sp>
      <p:sp>
        <p:nvSpPr>
          <p:cNvPr id="6" name="TextBox 5"/>
          <p:cNvSpPr txBox="1"/>
          <p:nvPr/>
        </p:nvSpPr>
        <p:spPr>
          <a:xfrm>
            <a:off x="731520" y="6492240"/>
            <a:ext cx="9144000" cy="274320"/>
          </a:xfrm>
          <a:prstGeom prst="rect">
            <a:avLst/>
          </a:prstGeom>
          <a:noFill/>
        </p:spPr>
        <p:txBody>
          <a:bodyPr wrap="none" lIns="0" tIns="0" rIns="0" bIns="0">
            <a:spAutoFit/>
          </a:bodyPr>
          <a:lstStyle/>
          <a:p>
            <a:pPr>
              <a:defRPr sz="900">
                <a:solidFill>
                  <a:srgbClr val="94A3B8"/>
                </a:solidFill>
                <a:latin typeface="Segoe UI"/>
              </a:defRPr>
            </a:pPr>
            <a:r>
              <a:t>LOANWISER  |  Review 2: Implementation &amp; Results  |  S. Karpagam (24BDS1210) &amp; Shruti Chaturvedi (24BDS1003)</a:t>
            </a:r>
          </a:p>
        </p:txBody>
      </p:sp>
      <p:sp>
        <p:nvSpPr>
          <p:cNvPr id="7" name="TextBox 6"/>
          <p:cNvSpPr txBox="1"/>
          <p:nvPr/>
        </p:nvSpPr>
        <p:spPr>
          <a:xfrm>
            <a:off x="10515600" y="6492240"/>
            <a:ext cx="914400" cy="274320"/>
          </a:xfrm>
          <a:prstGeom prst="rect">
            <a:avLst/>
          </a:prstGeom>
          <a:noFill/>
        </p:spPr>
        <p:txBody>
          <a:bodyPr wrap="none" lIns="0" tIns="0" rIns="0" bIns="0">
            <a:spAutoFit/>
          </a:bodyPr>
          <a:lstStyle/>
          <a:p>
            <a:pPr algn="r">
              <a:defRPr sz="900" b="1">
                <a:solidFill>
                  <a:srgbClr val="38BDF8"/>
                </a:solidFill>
                <a:latin typeface="Segoe UI"/>
              </a:defRPr>
            </a:pPr>
            <a:r>
              <a:t>5 / 15</a:t>
            </a:r>
          </a:p>
        </p:txBody>
      </p:sp>
      <p:sp>
        <p:nvSpPr>
          <p:cNvPr id="8" name="Rounded Rectangle 7"/>
          <p:cNvSpPr/>
          <p:nvPr/>
        </p:nvSpPr>
        <p:spPr>
          <a:xfrm>
            <a:off x="731520" y="1508760"/>
            <a:ext cx="4206240" cy="470916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3840480" cy="4389120"/>
          </a:xfrm>
          <a:prstGeom prst="rect">
            <a:avLst/>
          </a:prstGeom>
          <a:noFill/>
        </p:spPr>
        <p:txBody>
          <a:bodyPr wrap="square">
            <a:spAutoFit/>
          </a:bodyPr>
          <a:lstStyle/>
          <a:p>
            <a:pPr>
              <a:defRPr sz="1200" b="1">
                <a:solidFill>
                  <a:srgbClr val="38BDF8"/>
                </a:solidFill>
                <a:latin typeface="Segoe UI"/>
              </a:defRPr>
            </a:pPr>
            <a:r>
              <a:t>PRIMARY DATASET GROUND TRUTH</a:t>
            </a:r>
          </a:p>
          <a:p>
            <a:pPr>
              <a:spcBef>
                <a:spcPts val="400"/>
              </a:spcBef>
              <a:defRPr sz="950" b="1">
                <a:solidFill>
                  <a:srgbClr val="FFFFFF"/>
                </a:solidFill>
                <a:latin typeface="Segoe UI"/>
              </a:defRPr>
            </a:pPr>
            <a:r>
              <a:t>Source Competition: </a:t>
            </a:r>
            <a:r>
              <a:rPr b="0">
                <a:solidFill>
                  <a:srgbClr val="CBD5E1"/>
                </a:solidFill>
              </a:rPr>
              <a:t>Loan Approval Prediction - CPE 232 Data Models (INTL) [Kaggle]</a:t>
            </a:r>
          </a:p>
          <a:p>
            <a:pPr>
              <a:spcBef>
                <a:spcPts val="400"/>
              </a:spcBef>
              <a:defRPr sz="950" b="1">
                <a:solidFill>
                  <a:srgbClr val="FFFFFF"/>
                </a:solidFill>
                <a:latin typeface="Segoe UI"/>
              </a:defRPr>
            </a:pPr>
            <a:r>
              <a:t>Local Storage: </a:t>
            </a:r>
            <a:r>
              <a:rPr b="0">
                <a:solidFill>
                  <a:srgbClr val="CBD5E1"/>
                </a:solidFill>
              </a:rPr>
              <a:t>data/train.csv (Loaded via R/load_data.R)</a:t>
            </a:r>
          </a:p>
          <a:p>
            <a:pPr>
              <a:spcBef>
                <a:spcPts val="400"/>
              </a:spcBef>
              <a:defRPr sz="950" b="1">
                <a:solidFill>
                  <a:srgbClr val="FFFFFF"/>
                </a:solidFill>
                <a:latin typeface="Segoe UI"/>
              </a:defRPr>
            </a:pPr>
            <a:r>
              <a:t>Total Records: </a:t>
            </a:r>
            <a:r>
              <a:rPr b="0">
                <a:solidFill>
                  <a:srgbClr val="CBD5E1"/>
                </a:solidFill>
              </a:rPr>
              <a:t>4,269 applicant observations</a:t>
            </a:r>
          </a:p>
          <a:p>
            <a:pPr>
              <a:spcBef>
                <a:spcPts val="400"/>
              </a:spcBef>
              <a:defRPr sz="950" b="1">
                <a:solidFill>
                  <a:srgbClr val="FFFFFF"/>
                </a:solidFill>
                <a:latin typeface="Segoe UI"/>
              </a:defRPr>
            </a:pPr>
            <a:r>
              <a:t>Attributes: </a:t>
            </a:r>
            <a:r>
              <a:rPr b="0">
                <a:solidFill>
                  <a:srgbClr val="CBD5E1"/>
                </a:solidFill>
              </a:rPr>
              <a:t>13 columns (11 predictors, 1 ID, 1 Target)</a:t>
            </a:r>
          </a:p>
          <a:p>
            <a:pPr>
              <a:spcBef>
                <a:spcPts val="400"/>
              </a:spcBef>
              <a:defRPr sz="950" b="1">
                <a:solidFill>
                  <a:srgbClr val="FFFFFF"/>
                </a:solidFill>
                <a:latin typeface="Segoe UI"/>
              </a:defRPr>
            </a:pPr>
            <a:r>
              <a:t>Missing Values: </a:t>
            </a:r>
            <a:r>
              <a:rPr b="0">
                <a:solidFill>
                  <a:srgbClr val="CBD5E1"/>
                </a:solidFill>
              </a:rPr>
              <a:t>0 missing values across all columns</a:t>
            </a:r>
          </a:p>
          <a:p>
            <a:pPr>
              <a:spcBef>
                <a:spcPts val="400"/>
              </a:spcBef>
              <a:defRPr sz="950" b="1">
                <a:solidFill>
                  <a:srgbClr val="FFFFFF"/>
                </a:solidFill>
                <a:latin typeface="Segoe UI"/>
              </a:defRPr>
            </a:pPr>
            <a:r>
              <a:t>Target Variable: </a:t>
            </a:r>
            <a:r>
              <a:rPr b="0">
                <a:solidFill>
                  <a:srgbClr val="CBD5E1"/>
                </a:solidFill>
              </a:rPr>
              <a:t>loan_status: Approved (62.22%) vs Rejected (37.78%)</a:t>
            </a:r>
          </a:p>
          <a:p>
            <a:pPr>
              <a:spcBef>
                <a:spcPts val="400"/>
              </a:spcBef>
              <a:defRPr sz="950" b="1">
                <a:solidFill>
                  <a:srgbClr val="FFFFFF"/>
                </a:solidFill>
                <a:latin typeface="Segoe UI"/>
              </a:defRPr>
            </a:pPr>
            <a:r>
              <a:t>Class Balance: </a:t>
            </a:r>
            <a:r>
              <a:rPr b="0">
                <a:solidFill>
                  <a:srgbClr val="CBD5E1"/>
                </a:solidFill>
              </a:rPr>
              <a:t>2,656 Approved  /  1,613 Rejected</a:t>
            </a:r>
          </a:p>
          <a:p>
            <a:pPr>
              <a:spcBef>
                <a:spcPts val="1200"/>
              </a:spcBef>
              <a:defRPr sz="1200" b="1">
                <a:solidFill>
                  <a:srgbClr val="38BDF8"/>
                </a:solidFill>
                <a:latin typeface="Segoe UI"/>
              </a:defRPr>
            </a:pPr>
            <a:r>
              <a:t>STRATIFIED 80/20 PARTITIONING</a:t>
            </a:r>
          </a:p>
          <a:p>
            <a:pPr>
              <a:spcBef>
                <a:spcPts val="300"/>
              </a:spcBef>
              <a:defRPr sz="950">
                <a:solidFill>
                  <a:srgbClr val="CBD5E1"/>
                </a:solidFill>
                <a:latin typeface="Segoe UI"/>
              </a:defRPr>
            </a:pPr>
            <a:r>
              <a:t>• Training Set: 3,415 records (62.2% Approved / 37.8% Rejected)</a:t>
            </a:r>
          </a:p>
          <a:p>
            <a:pPr>
              <a:spcBef>
                <a:spcPts val="300"/>
              </a:spcBef>
              <a:defRPr sz="950">
                <a:solidFill>
                  <a:srgbClr val="CBD5E1"/>
                </a:solidFill>
                <a:latin typeface="Segoe UI"/>
              </a:defRPr>
            </a:pPr>
            <a:r>
              <a:t>• Held-Out Test Set: 854 records (62.2% Approved / 37.8% Rejected)</a:t>
            </a:r>
          </a:p>
          <a:p>
            <a:pPr>
              <a:spcBef>
                <a:spcPts val="300"/>
              </a:spcBef>
              <a:defRPr sz="950">
                <a:solidFill>
                  <a:srgbClr val="CBD5E1"/>
                </a:solidFill>
                <a:latin typeface="Segoe UI"/>
              </a:defRPr>
            </a:pPr>
            <a:r>
              <a:t>• Zero Data Leakage: Preprocessing parameters (medians, means, factor levels) learned strictly on training set.</a:t>
            </a:r>
          </a:p>
        </p:txBody>
      </p:sp>
      <p:sp>
        <p:nvSpPr>
          <p:cNvPr id="10" name="Rounded Rectangle 9"/>
          <p:cNvSpPr/>
          <p:nvPr/>
        </p:nvSpPr>
        <p:spPr>
          <a:xfrm>
            <a:off x="5120640" y="1508760"/>
            <a:ext cx="6339535" cy="470916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0" y="1645920"/>
            <a:ext cx="5943600" cy="365760"/>
          </a:xfrm>
          <a:prstGeom prst="rect">
            <a:avLst/>
          </a:prstGeom>
          <a:noFill/>
        </p:spPr>
        <p:txBody>
          <a:bodyPr wrap="none">
            <a:spAutoFit/>
          </a:bodyPr>
          <a:lstStyle/>
          <a:p>
            <a:pPr>
              <a:defRPr sz="1200" b="1">
                <a:solidFill>
                  <a:srgbClr val="38BDF8"/>
                </a:solidFill>
                <a:latin typeface="Segoe UI"/>
              </a:defRPr>
            </a:pPr>
            <a:r>
              <a:t>THREE-TIER FEATURE ADAPTATION ARCHITECTURE</a:t>
            </a:r>
          </a:p>
        </p:txBody>
      </p:sp>
      <p:graphicFrame>
        <p:nvGraphicFramePr>
          <p:cNvPr id="12" name="Table 11"/>
          <p:cNvGraphicFramePr>
            <a:graphicFrameLocks noGrp="1"/>
          </p:cNvGraphicFramePr>
          <p:nvPr/>
        </p:nvGraphicFramePr>
        <p:xfrm>
          <a:off x="5303520" y="2057400"/>
          <a:ext cx="5973775" cy="3931920"/>
        </p:xfrm>
        <a:graphic>
          <a:graphicData uri="http://schemas.openxmlformats.org/drawingml/2006/table">
            <a:tbl>
              <a:tblPr firstRow="1" bandRow="1">
                <a:tableStyleId>{5C22544A-7EE6-4342-B048-85BDC9FD1C3A}</a:tableStyleId>
              </a:tblPr>
              <a:tblGrid>
                <a:gridCol w="1371600"/>
                <a:gridCol w="2194560"/>
                <a:gridCol w="2407615"/>
              </a:tblGrid>
              <a:tr h="982980">
                <a:tc>
                  <a:txBody>
                    <a:bodyPr/>
                    <a:lstStyle/>
                    <a:p>
                      <a:pPr>
                        <a:defRPr sz="1000" b="1">
                          <a:solidFill>
                            <a:srgbClr val="38BDF8"/>
                          </a:solidFill>
                          <a:latin typeface="Segoe UI"/>
                        </a:defRPr>
                      </a:pPr>
                      <a:r>
                        <a:t>Feature Tier</a:t>
                      </a:r>
                    </a:p>
                  </a:txBody>
                  <a:tcPr>
                    <a:solidFill>
                      <a:srgbClr val="0F2A4A"/>
                    </a:solidFill>
                  </a:tcPr>
                </a:tc>
                <a:tc>
                  <a:txBody>
                    <a:bodyPr/>
                    <a:lstStyle/>
                    <a:p>
                      <a:pPr>
                        <a:defRPr sz="1000" b="1">
                          <a:solidFill>
                            <a:srgbClr val="38BDF8"/>
                          </a:solidFill>
                          <a:latin typeface="Segoe UI"/>
                        </a:defRPr>
                      </a:pPr>
                      <a:r>
                        <a:t>Variables Implemented</a:t>
                      </a:r>
                    </a:p>
                  </a:txBody>
                  <a:tcPr>
                    <a:solidFill>
                      <a:srgbClr val="0F2A4A"/>
                    </a:solidFill>
                  </a:tcPr>
                </a:tc>
                <a:tc>
                  <a:txBody>
                    <a:bodyPr/>
                    <a:lstStyle/>
                    <a:p>
                      <a:pPr>
                        <a:defRPr sz="1000" b="1">
                          <a:solidFill>
                            <a:srgbClr val="38BDF8"/>
                          </a:solidFill>
                          <a:latin typeface="Segoe UI"/>
                        </a:defRPr>
                      </a:pPr>
                      <a:r>
                        <a:t>Mathematical Role in System</a:t>
                      </a:r>
                    </a:p>
                  </a:txBody>
                  <a:tcPr>
                    <a:solidFill>
                      <a:srgbClr val="0F2A4A"/>
                    </a:solidFill>
                  </a:tcPr>
                </a:tc>
              </a:tr>
              <a:tr h="982980">
                <a:tc>
                  <a:txBody>
                    <a:bodyPr/>
                    <a:lstStyle/>
                    <a:p>
                      <a:pPr>
                        <a:defRPr sz="950">
                          <a:solidFill>
                            <a:srgbClr val="38BDF8"/>
                          </a:solidFill>
                          <a:latin typeface="Segoe UI"/>
                        </a:defRPr>
                      </a:pPr>
                      <a:r>
                        <a:t>A. Original Kaggle</a:t>
                      </a:r>
                      <a:br/>
                      <a:r>
                        <a:t>Features (11)</a:t>
                      </a:r>
                    </a:p>
                  </a:txBody>
                  <a:tcPr>
                    <a:solidFill>
                      <a:srgbClr val="0E1C30"/>
                    </a:solidFill>
                  </a:tcPr>
                </a:tc>
                <a:tc>
                  <a:txBody>
                    <a:bodyPr/>
                    <a:lstStyle/>
                    <a:p>
                      <a:pPr>
                        <a:defRPr sz="950">
                          <a:solidFill>
                            <a:srgbClr val="CBD5E1"/>
                          </a:solidFill>
                          <a:latin typeface="Segoe UI"/>
                        </a:defRPr>
                      </a:pPr>
                      <a:r>
                        <a:t>income_annum, loan_amount, loan_term, cibil_score, residential_assets, commercial_assets, luxury_assets, bank_assets, education, self_employed, no_of_dependents</a:t>
                      </a:r>
                    </a:p>
                  </a:txBody>
                  <a:tcPr>
                    <a:solidFill>
                      <a:srgbClr val="0E1C30"/>
                    </a:solidFill>
                  </a:tcPr>
                </a:tc>
                <a:tc>
                  <a:txBody>
                    <a:bodyPr/>
                    <a:lstStyle/>
                    <a:p>
                      <a:pPr>
                        <a:defRPr sz="950">
                          <a:solidFill>
                            <a:srgbClr val="CBD5E1"/>
                          </a:solidFill>
                          <a:latin typeface="Segoe UI"/>
                        </a:defRPr>
                      </a:pPr>
                      <a:r>
                        <a:t>Ground truth applicant financial baseline from Kaggle dataset; primary inputs for ML model training.</a:t>
                      </a:r>
                    </a:p>
                  </a:txBody>
                  <a:tcPr>
                    <a:solidFill>
                      <a:srgbClr val="0E1C30"/>
                    </a:solidFill>
                  </a:tcPr>
                </a:tc>
              </a:tr>
              <a:tr h="982980">
                <a:tc>
                  <a:txBody>
                    <a:bodyPr/>
                    <a:lstStyle/>
                    <a:p>
                      <a:pPr>
                        <a:defRPr sz="950">
                          <a:solidFill>
                            <a:srgbClr val="38BDF8"/>
                          </a:solidFill>
                          <a:latin typeface="Segoe UI"/>
                        </a:defRPr>
                      </a:pPr>
                      <a:r>
                        <a:t>B. Derived Features</a:t>
                      </a:r>
                      <a:br/>
                      <a:r>
                        <a:t>(13 Ratios)</a:t>
                      </a:r>
                    </a:p>
                  </a:txBody>
                  <a:tcPr>
                    <a:solidFill>
                      <a:srgbClr val="132238"/>
                    </a:solidFill>
                  </a:tcPr>
                </a:tc>
                <a:tc>
                  <a:txBody>
                    <a:bodyPr/>
                    <a:lstStyle/>
                    <a:p>
                      <a:pPr>
                        <a:defRPr sz="950">
                          <a:solidFill>
                            <a:srgbClr val="CBD5E1"/>
                          </a:solidFill>
                          <a:latin typeface="Segoe UI"/>
                        </a:defRPr>
                      </a:pPr>
                      <a:r>
                        <a:t>monthly_income, total_assets, immovable_assets, liquid_assets, loan_to_income, loan_to_asset, asset_coverage, emi, dti, ltv, disposable_income, buffer, cibil_tier</a:t>
                      </a:r>
                    </a:p>
                  </a:txBody>
                  <a:tcPr>
                    <a:solidFill>
                      <a:srgbClr val="132238"/>
                    </a:solidFill>
                  </a:tcPr>
                </a:tc>
                <a:tc>
                  <a:txBody>
                    <a:bodyPr/>
                    <a:lstStyle/>
                    <a:p>
                      <a:pPr>
                        <a:defRPr sz="950">
                          <a:solidFill>
                            <a:srgbClr val="CBD5E1"/>
                          </a:solidFill>
                          <a:latin typeface="Segoe UI"/>
                        </a:defRPr>
                      </a:pPr>
                      <a:r>
                        <a:t>Mathematically engineered solvency ratios capturing debt burden, collateral coverage, and cashflow liquidity headroom.</a:t>
                      </a:r>
                    </a:p>
                  </a:txBody>
                  <a:tcPr>
                    <a:solidFill>
                      <a:srgbClr val="132238"/>
                    </a:solidFill>
                  </a:tcPr>
                </a:tc>
              </a:tr>
              <a:tr h="982980">
                <a:tc>
                  <a:txBody>
                    <a:bodyPr/>
                    <a:lstStyle/>
                    <a:p>
                      <a:pPr>
                        <a:defRPr sz="950">
                          <a:solidFill>
                            <a:srgbClr val="38BDF8"/>
                          </a:solidFill>
                          <a:latin typeface="Segoe UI"/>
                        </a:defRPr>
                      </a:pPr>
                      <a:r>
                        <a:t>C. User Simulation</a:t>
                      </a:r>
                      <a:br/>
                      <a:r>
                        <a:t>Inputs (5)</a:t>
                      </a:r>
                    </a:p>
                  </a:txBody>
                  <a:tcPr>
                    <a:solidFill>
                      <a:srgbClr val="0E1C30"/>
                    </a:solidFill>
                  </a:tcPr>
                </a:tc>
                <a:tc>
                  <a:txBody>
                    <a:bodyPr/>
                    <a:lstStyle/>
                    <a:p>
                      <a:pPr>
                        <a:defRPr sz="950">
                          <a:solidFill>
                            <a:srgbClr val="CBD5E1"/>
                          </a:solidFill>
                          <a:latin typeface="Segoe UI"/>
                        </a:defRPr>
                      </a:pPr>
                      <a:r>
                        <a:t>interest_rate, existing_emi, living_expenses, down_payment, loan_purpose</a:t>
                      </a:r>
                    </a:p>
                  </a:txBody>
                  <a:tcPr>
                    <a:solidFill>
                      <a:srgbClr val="0E1C30"/>
                    </a:solidFill>
                  </a:tcPr>
                </a:tc>
                <a:tc>
                  <a:txBody>
                    <a:bodyPr/>
                    <a:lstStyle/>
                    <a:p>
                      <a:pPr>
                        <a:defRPr sz="950">
                          <a:solidFill>
                            <a:srgbClr val="CBD5E1"/>
                          </a:solidFill>
                          <a:latin typeface="Segoe UI"/>
                        </a:defRPr>
                      </a:pPr>
                      <a:r>
                        <a:t>Dynamic parameters entered by user in Shiny interface for real-time what-if stress testing and sensitivity analysis.</a:t>
                      </a:r>
                    </a:p>
                  </a:txBody>
                  <a:tcPr>
                    <a:solidFill>
                      <a:srgbClr val="0E1C30"/>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Segoe UI"/>
              </a:defRPr>
            </a:pPr>
            <a:r>
              <a:t>LOANWISER  •  REVIEW 2: IMPLEMENTATION &amp; RESULTS</a:t>
            </a:r>
          </a:p>
        </p:txBody>
      </p:sp>
      <p:sp>
        <p:nvSpPr>
          <p:cNvPr id="4" name="TextBox 3"/>
          <p:cNvSpPr txBox="1"/>
          <p:nvPr/>
        </p:nvSpPr>
        <p:spPr>
          <a:xfrm>
            <a:off x="731520" y="594360"/>
            <a:ext cx="10698480" cy="502920"/>
          </a:xfrm>
          <a:prstGeom prst="rect">
            <a:avLst/>
          </a:prstGeom>
          <a:noFill/>
        </p:spPr>
        <p:txBody>
          <a:bodyPr wrap="square" lIns="0" tIns="0" rIns="0" bIns="0">
            <a:spAutoFit/>
          </a:bodyPr>
          <a:lstStyle/>
          <a:p>
            <a:pPr>
              <a:defRPr sz="2100" b="1">
                <a:solidFill>
                  <a:srgbClr val="FFFFFF"/>
                </a:solidFill>
                <a:latin typeface="Segoe UI"/>
              </a:defRPr>
            </a:pPr>
            <a:r>
              <a:t>Application Interface &amp; 10 Dashboard Modules</a:t>
            </a:r>
          </a:p>
        </p:txBody>
      </p:sp>
      <p:sp>
        <p:nvSpPr>
          <p:cNvPr id="5" name="TextBox 4"/>
          <p:cNvSpPr txBox="1"/>
          <p:nvPr/>
        </p:nvSpPr>
        <p:spPr>
          <a:xfrm>
            <a:off x="731520" y="1078992"/>
            <a:ext cx="10698480" cy="320040"/>
          </a:xfrm>
          <a:prstGeom prst="rect">
            <a:avLst/>
          </a:prstGeom>
          <a:noFill/>
        </p:spPr>
        <p:txBody>
          <a:bodyPr wrap="square" lIns="0" tIns="0" rIns="0" bIns="0">
            <a:spAutoFit/>
          </a:bodyPr>
          <a:lstStyle/>
          <a:p>
            <a:pPr>
              <a:defRPr sz="1100">
                <a:solidFill>
                  <a:srgbClr val="94A3B8"/>
                </a:solidFill>
                <a:latin typeface="Segoe UI"/>
              </a:defRPr>
            </a:pPr>
            <a:r>
              <a:t>Full-Fledged R Shiny Dashboard Providing Live Interaction Across Underwriting Workflows</a:t>
            </a:r>
          </a:p>
        </p:txBody>
      </p:sp>
      <p:sp>
        <p:nvSpPr>
          <p:cNvPr id="6" name="TextBox 5"/>
          <p:cNvSpPr txBox="1"/>
          <p:nvPr/>
        </p:nvSpPr>
        <p:spPr>
          <a:xfrm>
            <a:off x="731520" y="6492240"/>
            <a:ext cx="9144000" cy="274320"/>
          </a:xfrm>
          <a:prstGeom prst="rect">
            <a:avLst/>
          </a:prstGeom>
          <a:noFill/>
        </p:spPr>
        <p:txBody>
          <a:bodyPr wrap="none" lIns="0" tIns="0" rIns="0" bIns="0">
            <a:spAutoFit/>
          </a:bodyPr>
          <a:lstStyle/>
          <a:p>
            <a:pPr>
              <a:defRPr sz="900">
                <a:solidFill>
                  <a:srgbClr val="94A3B8"/>
                </a:solidFill>
                <a:latin typeface="Segoe UI"/>
              </a:defRPr>
            </a:pPr>
            <a:r>
              <a:t>LOANWISER  |  Review 2: Implementation &amp; Results  |  S. Karpagam (24BDS1210) &amp; Shruti Chaturvedi (24BDS1003)</a:t>
            </a:r>
          </a:p>
        </p:txBody>
      </p:sp>
      <p:sp>
        <p:nvSpPr>
          <p:cNvPr id="7" name="TextBox 6"/>
          <p:cNvSpPr txBox="1"/>
          <p:nvPr/>
        </p:nvSpPr>
        <p:spPr>
          <a:xfrm>
            <a:off x="10515600" y="6492240"/>
            <a:ext cx="914400" cy="274320"/>
          </a:xfrm>
          <a:prstGeom prst="rect">
            <a:avLst/>
          </a:prstGeom>
          <a:noFill/>
        </p:spPr>
        <p:txBody>
          <a:bodyPr wrap="none" lIns="0" tIns="0" rIns="0" bIns="0">
            <a:spAutoFit/>
          </a:bodyPr>
          <a:lstStyle/>
          <a:p>
            <a:pPr algn="r">
              <a:defRPr sz="900" b="1">
                <a:solidFill>
                  <a:srgbClr val="38BDF8"/>
                </a:solidFill>
                <a:latin typeface="Segoe UI"/>
              </a:defRPr>
            </a:pPr>
            <a:r>
              <a:t>6 / 15</a:t>
            </a:r>
          </a:p>
        </p:txBody>
      </p:sp>
      <p:pic>
        <p:nvPicPr>
          <p:cNvPr id="8" name="Picture 7" descr="01_executive_dashboard.png"/>
          <p:cNvPicPr>
            <a:picLocks noChangeAspect="1"/>
          </p:cNvPicPr>
          <p:nvPr/>
        </p:nvPicPr>
        <p:blipFill>
          <a:blip r:embed="rId2"/>
          <a:stretch>
            <a:fillRect/>
          </a:stretch>
        </p:blipFill>
        <p:spPr>
          <a:xfrm>
            <a:off x="731520" y="1508760"/>
            <a:ext cx="5852160" cy="3530581"/>
          </a:xfrm>
          <a:prstGeom prst="rect">
            <a:avLst/>
          </a:prstGeom>
        </p:spPr>
      </p:pic>
      <p:sp>
        <p:nvSpPr>
          <p:cNvPr id="9" name="Rectangle 8"/>
          <p:cNvSpPr/>
          <p:nvPr/>
        </p:nvSpPr>
        <p:spPr>
          <a:xfrm>
            <a:off x="731520" y="1508760"/>
            <a:ext cx="5852160" cy="3840480"/>
          </a:xfrm>
          <a:prstGeom prst="rect">
            <a:avLst/>
          </a:prstGeom>
          <a:no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413248"/>
            <a:ext cx="5852160" cy="914400"/>
          </a:xfrm>
          <a:prstGeom prst="rect">
            <a:avLst/>
          </a:prstGeom>
          <a:noFill/>
        </p:spPr>
        <p:txBody>
          <a:bodyPr wrap="square" lIns="0" tIns="0" rIns="0" bIns="0">
            <a:spAutoFit/>
          </a:bodyPr>
          <a:lstStyle/>
          <a:p>
            <a:pPr>
              <a:defRPr sz="1000" b="1">
                <a:solidFill>
                  <a:srgbClr val="38BDF8"/>
                </a:solidFill>
                <a:latin typeface="Segoe UI"/>
              </a:defRPr>
            </a:pPr>
            <a:r>
              <a:t>Figure 6.1: Verified Screenshot of LoanWiser Executive Dashboard (Port 7890)</a:t>
            </a:r>
          </a:p>
          <a:p>
            <a:pPr>
              <a:spcBef>
                <a:spcPts val="200"/>
              </a:spcBef>
              <a:defRPr sz="900">
                <a:solidFill>
                  <a:srgbClr val="94A3B8"/>
                </a:solidFill>
                <a:latin typeface="Segoe UI"/>
              </a:defRPr>
            </a:pPr>
            <a:r>
              <a:t>Features real-time KPI cards (Approval Decision, Risk Rating, EMI, DTI, LTV, Total Assets), monthly cashflow waterfall chart, and Plotly 0-100 risk gauge.</a:t>
            </a:r>
          </a:p>
        </p:txBody>
      </p:sp>
      <p:sp>
        <p:nvSpPr>
          <p:cNvPr id="11" name="Rounded Rectangle 10"/>
          <p:cNvSpPr/>
          <p:nvPr/>
        </p:nvSpPr>
        <p:spPr>
          <a:xfrm>
            <a:off x="6766560" y="1508760"/>
            <a:ext cx="4693615" cy="470916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0" y="1645920"/>
            <a:ext cx="4297680" cy="4389120"/>
          </a:xfrm>
          <a:prstGeom prst="rect">
            <a:avLst/>
          </a:prstGeom>
          <a:noFill/>
        </p:spPr>
        <p:txBody>
          <a:bodyPr wrap="square">
            <a:spAutoFit/>
          </a:bodyPr>
          <a:lstStyle/>
          <a:p>
            <a:pPr>
              <a:defRPr sz="1200" b="1">
                <a:solidFill>
                  <a:srgbClr val="38BDF8"/>
                </a:solidFill>
                <a:latin typeface="Segoe UI"/>
              </a:defRPr>
            </a:pPr>
            <a:r>
              <a:t>10 COMPLETE INTERACTIVE MODULES IN APP.R</a:t>
            </a:r>
          </a:p>
          <a:p>
            <a:pPr>
              <a:spcBef>
                <a:spcPts val="300"/>
              </a:spcBef>
              <a:defRPr sz="900" b="1">
                <a:solidFill>
                  <a:srgbClr val="FFFFFF"/>
                </a:solidFill>
                <a:latin typeface="Segoe UI"/>
              </a:defRPr>
            </a:pPr>
            <a:r>
              <a:t>Tab 1: Executive Dashboard: </a:t>
            </a:r>
            <a:r>
              <a:rPr b="0">
                <a:solidFill>
                  <a:srgbClr val="CBD5E1"/>
                </a:solidFill>
              </a:rPr>
              <a:t>Real-time summary KPIs, waterfall chart, and composite risk gauge.</a:t>
            </a:r>
          </a:p>
          <a:p>
            <a:pPr>
              <a:spcBef>
                <a:spcPts val="300"/>
              </a:spcBef>
              <a:defRPr sz="900" b="1">
                <a:solidFill>
                  <a:srgbClr val="FFFFFF"/>
                </a:solidFill>
                <a:latin typeface="Segoe UI"/>
              </a:defRPr>
            </a:pPr>
            <a:r>
              <a:t>Tab 2: Applicant Profile: </a:t>
            </a:r>
            <a:r>
              <a:rPr b="0">
                <a:solidFill>
                  <a:srgbClr val="CBD5E1"/>
                </a:solidFill>
              </a:rPr>
              <a:t>Contextual input forms for Kaggle features &amp; financial baseline.</a:t>
            </a:r>
          </a:p>
          <a:p>
            <a:pPr>
              <a:spcBef>
                <a:spcPts val="300"/>
              </a:spcBef>
              <a:defRPr sz="900" b="1">
                <a:solidFill>
                  <a:srgbClr val="FFFFFF"/>
                </a:solidFill>
                <a:latin typeface="Segoe UI"/>
              </a:defRPr>
            </a:pPr>
            <a:r>
              <a:t>Tab 3: Loan Analysis: </a:t>
            </a:r>
            <a:r>
              <a:rPr b="0">
                <a:solidFill>
                  <a:srgbClr val="CBD5E1"/>
                </a:solidFill>
              </a:rPr>
              <a:t>EMI calculation, cumulative interest, and debt burden check.</a:t>
            </a:r>
          </a:p>
          <a:p>
            <a:pPr>
              <a:spcBef>
                <a:spcPts val="300"/>
              </a:spcBef>
              <a:defRPr sz="900" b="1">
                <a:solidFill>
                  <a:srgbClr val="FFFFFF"/>
                </a:solidFill>
                <a:latin typeface="Segoe UI"/>
              </a:defRPr>
            </a:pPr>
            <a:r>
              <a:t>Tab 4: Risk Assessment: </a:t>
            </a:r>
            <a:r>
              <a:rPr b="0">
                <a:solidFill>
                  <a:srgbClr val="CBD5E1"/>
                </a:solidFill>
              </a:rPr>
              <a:t>0-100 Risk index breakdown, positive drivers, and risk alerts.</a:t>
            </a:r>
          </a:p>
          <a:p>
            <a:pPr>
              <a:spcBef>
                <a:spcPts val="300"/>
              </a:spcBef>
              <a:defRPr sz="900" b="1">
                <a:solidFill>
                  <a:srgbClr val="FFFFFF"/>
                </a:solidFill>
                <a:latin typeface="Segoe UI"/>
              </a:defRPr>
            </a:pPr>
            <a:r>
              <a:t>Tab 5: ML Prediction: </a:t>
            </a:r>
            <a:r>
              <a:rPr b="0">
                <a:solidFill>
                  <a:srgbClr val="CBD5E1"/>
                </a:solidFill>
              </a:rPr>
              <a:t>Multi-model selector (RF vs XGB vs GLM) and live ROC curves.</a:t>
            </a:r>
          </a:p>
          <a:p>
            <a:pPr>
              <a:spcBef>
                <a:spcPts val="300"/>
              </a:spcBef>
              <a:defRPr sz="900" b="1">
                <a:solidFill>
                  <a:srgbClr val="FFFFFF"/>
                </a:solidFill>
                <a:latin typeface="Segoe UI"/>
              </a:defRPr>
            </a:pPr>
            <a:r>
              <a:t>Tab 6: What-If Simulation: </a:t>
            </a:r>
            <a:r>
              <a:rPr b="0">
                <a:solidFill>
                  <a:srgbClr val="CBD5E1"/>
                </a:solidFill>
              </a:rPr>
              <a:t>Real-time sensitivity sliders for instant counterfactual testing.</a:t>
            </a:r>
          </a:p>
          <a:p>
            <a:pPr>
              <a:spcBef>
                <a:spcPts val="300"/>
              </a:spcBef>
              <a:defRPr sz="900" b="1">
                <a:solidFill>
                  <a:srgbClr val="FFFFFF"/>
                </a:solidFill>
                <a:latin typeface="Segoe UI"/>
              </a:defRPr>
            </a:pPr>
            <a:r>
              <a:t>Tab 7: Exploratory Data (EDA): </a:t>
            </a:r>
            <a:r>
              <a:rPr b="0">
                <a:solidFill>
                  <a:srgbClr val="CBD5E1"/>
                </a:solidFill>
              </a:rPr>
              <a:t>Interactive Plotly charts on Kaggle dataset distributions.</a:t>
            </a:r>
          </a:p>
          <a:p>
            <a:pPr>
              <a:spcBef>
                <a:spcPts val="300"/>
              </a:spcBef>
              <a:defRPr sz="900" b="1">
                <a:solidFill>
                  <a:srgbClr val="FFFFFF"/>
                </a:solidFill>
                <a:latin typeface="Segoe UI"/>
              </a:defRPr>
            </a:pPr>
            <a:r>
              <a:t>Tab 8: Amortization Schedule: </a:t>
            </a:r>
            <a:r>
              <a:rPr b="0">
                <a:solidFill>
                  <a:srgbClr val="CBD5E1"/>
                </a:solidFill>
              </a:rPr>
              <a:t>Month-by-month payment ledger with one-click CSV export.</a:t>
            </a:r>
          </a:p>
          <a:p>
            <a:pPr>
              <a:spcBef>
                <a:spcPts val="300"/>
              </a:spcBef>
              <a:defRPr sz="900" b="1">
                <a:solidFill>
                  <a:srgbClr val="FFFFFF"/>
                </a:solidFill>
                <a:latin typeface="Segoe UI"/>
              </a:defRPr>
            </a:pPr>
            <a:r>
              <a:t>Tab 9: Model Performance: </a:t>
            </a:r>
            <a:r>
              <a:rPr b="0">
                <a:solidFill>
                  <a:srgbClr val="CBD5E1"/>
                </a:solidFill>
              </a:rPr>
              <a:t>Cross-validated metrics table &amp; Random Forest feature importance.</a:t>
            </a:r>
          </a:p>
          <a:p>
            <a:pPr>
              <a:spcBef>
                <a:spcPts val="300"/>
              </a:spcBef>
              <a:defRPr sz="900" b="1">
                <a:solidFill>
                  <a:srgbClr val="FFFFFF"/>
                </a:solidFill>
                <a:latin typeface="Segoe UI"/>
              </a:defRPr>
            </a:pPr>
            <a:r>
              <a:t>Tab 10: About Project: </a:t>
            </a:r>
            <a:r>
              <a:rPr b="0">
                <a:solidFill>
                  <a:srgbClr val="CBD5E1"/>
                </a:solidFill>
              </a:rPr>
              <a:t>System architecture diagram, author credits &amp; viva voce guide.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Segoe UI"/>
              </a:defRPr>
            </a:pPr>
            <a:r>
              <a:t>LOANWISER  •  REVIEW 2: IMPLEMENTATION &amp; RESULTS</a:t>
            </a:r>
          </a:p>
        </p:txBody>
      </p:sp>
      <p:sp>
        <p:nvSpPr>
          <p:cNvPr id="4" name="TextBox 3"/>
          <p:cNvSpPr txBox="1"/>
          <p:nvPr/>
        </p:nvSpPr>
        <p:spPr>
          <a:xfrm>
            <a:off x="731520" y="594360"/>
            <a:ext cx="10698480" cy="502920"/>
          </a:xfrm>
          <a:prstGeom prst="rect">
            <a:avLst/>
          </a:prstGeom>
          <a:noFill/>
        </p:spPr>
        <p:txBody>
          <a:bodyPr wrap="square" lIns="0" tIns="0" rIns="0" bIns="0">
            <a:spAutoFit/>
          </a:bodyPr>
          <a:lstStyle/>
          <a:p>
            <a:pPr>
              <a:defRPr sz="2100" b="1">
                <a:solidFill>
                  <a:srgbClr val="FFFFFF"/>
                </a:solidFill>
                <a:latin typeface="Segoe UI"/>
              </a:defRPr>
            </a:pPr>
            <a:r>
              <a:t>Applicant Inputs &amp; Financial Mathematics Engine</a:t>
            </a:r>
          </a:p>
        </p:txBody>
      </p:sp>
      <p:sp>
        <p:nvSpPr>
          <p:cNvPr id="5" name="TextBox 4"/>
          <p:cNvSpPr txBox="1"/>
          <p:nvPr/>
        </p:nvSpPr>
        <p:spPr>
          <a:xfrm>
            <a:off x="731520" y="1078992"/>
            <a:ext cx="10698480" cy="320040"/>
          </a:xfrm>
          <a:prstGeom prst="rect">
            <a:avLst/>
          </a:prstGeom>
          <a:noFill/>
        </p:spPr>
        <p:txBody>
          <a:bodyPr wrap="square" lIns="0" tIns="0" rIns="0" bIns="0">
            <a:spAutoFit/>
          </a:bodyPr>
          <a:lstStyle/>
          <a:p>
            <a:pPr>
              <a:defRPr sz="1100">
                <a:solidFill>
                  <a:srgbClr val="94A3B8"/>
                </a:solidFill>
                <a:latin typeface="Segoe UI"/>
              </a:defRPr>
            </a:pPr>
            <a:r>
              <a:t>Verified Solvency Formulations and Concrete End-to-End Numerical Validation</a:t>
            </a:r>
          </a:p>
        </p:txBody>
      </p:sp>
      <p:sp>
        <p:nvSpPr>
          <p:cNvPr id="6" name="TextBox 5"/>
          <p:cNvSpPr txBox="1"/>
          <p:nvPr/>
        </p:nvSpPr>
        <p:spPr>
          <a:xfrm>
            <a:off x="731520" y="6492240"/>
            <a:ext cx="9144000" cy="274320"/>
          </a:xfrm>
          <a:prstGeom prst="rect">
            <a:avLst/>
          </a:prstGeom>
          <a:noFill/>
        </p:spPr>
        <p:txBody>
          <a:bodyPr wrap="none" lIns="0" tIns="0" rIns="0" bIns="0">
            <a:spAutoFit/>
          </a:bodyPr>
          <a:lstStyle/>
          <a:p>
            <a:pPr>
              <a:defRPr sz="900">
                <a:solidFill>
                  <a:srgbClr val="94A3B8"/>
                </a:solidFill>
                <a:latin typeface="Segoe UI"/>
              </a:defRPr>
            </a:pPr>
            <a:r>
              <a:t>LOANWISER  |  Review 2: Implementation &amp; Results  |  S. Karpagam (24BDS1210) &amp; Shruti Chaturvedi (24BDS1003)</a:t>
            </a:r>
          </a:p>
        </p:txBody>
      </p:sp>
      <p:sp>
        <p:nvSpPr>
          <p:cNvPr id="7" name="TextBox 6"/>
          <p:cNvSpPr txBox="1"/>
          <p:nvPr/>
        </p:nvSpPr>
        <p:spPr>
          <a:xfrm>
            <a:off x="10515600" y="6492240"/>
            <a:ext cx="914400" cy="274320"/>
          </a:xfrm>
          <a:prstGeom prst="rect">
            <a:avLst/>
          </a:prstGeom>
          <a:noFill/>
        </p:spPr>
        <p:txBody>
          <a:bodyPr wrap="none" lIns="0" tIns="0" rIns="0" bIns="0">
            <a:spAutoFit/>
          </a:bodyPr>
          <a:lstStyle/>
          <a:p>
            <a:pPr algn="r">
              <a:defRPr sz="900" b="1">
                <a:solidFill>
                  <a:srgbClr val="38BDF8"/>
                </a:solidFill>
                <a:latin typeface="Segoe UI"/>
              </a:defRPr>
            </a:pPr>
            <a:r>
              <a:t>7 / 15</a:t>
            </a:r>
          </a:p>
        </p:txBody>
      </p:sp>
      <p:sp>
        <p:nvSpPr>
          <p:cNvPr id="8" name="Rounded Rectangle 7"/>
          <p:cNvSpPr/>
          <p:nvPr/>
        </p:nvSpPr>
        <p:spPr>
          <a:xfrm>
            <a:off x="731520" y="1508760"/>
            <a:ext cx="5120640" cy="470916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4754880" cy="4389120"/>
          </a:xfrm>
          <a:prstGeom prst="rect">
            <a:avLst/>
          </a:prstGeom>
          <a:noFill/>
        </p:spPr>
        <p:txBody>
          <a:bodyPr wrap="square">
            <a:spAutoFit/>
          </a:bodyPr>
          <a:lstStyle/>
          <a:p>
            <a:pPr>
              <a:defRPr sz="1100" b="1">
                <a:solidFill>
                  <a:srgbClr val="38BDF8"/>
                </a:solidFill>
                <a:latin typeface="Segoe UI"/>
              </a:defRPr>
            </a:pPr>
            <a:r>
              <a:t>FINANCIAL MATHEMATICS FORMULAS (R/financial_calculations.R)</a:t>
            </a:r>
          </a:p>
          <a:p>
            <a:pPr>
              <a:spcBef>
                <a:spcPts val="600"/>
              </a:spcBef>
              <a:defRPr sz="1000" b="1">
                <a:solidFill>
                  <a:srgbClr val="FFFFFF"/>
                </a:solidFill>
                <a:latin typeface="Segoe UI"/>
              </a:defRPr>
            </a:pPr>
            <a:r>
              <a:t>1. Equated Monthly Installment (EMI)</a:t>
            </a:r>
          </a:p>
          <a:p>
            <a:pPr>
              <a:spcBef>
                <a:spcPts val="200"/>
              </a:spcBef>
              <a:defRPr sz="850">
                <a:solidFill>
                  <a:srgbClr val="38BDF8"/>
                </a:solidFill>
                <a:latin typeface="Consolas"/>
              </a:defRPr>
            </a:pPr>
            <a:r>
              <a:t>EMI = [P x r x (1 + r)^n] / [(1 + r)^n - 1]</a:t>
            </a:r>
            <a:br/>
            <a:r>
              <a:t>where P = Principal, r = annual_rate / 1200, n = tenure_years x 12</a:t>
            </a:r>
          </a:p>
          <a:p>
            <a:pPr>
              <a:spcBef>
                <a:spcPts val="600"/>
              </a:spcBef>
              <a:defRPr sz="1000" b="1">
                <a:solidFill>
                  <a:srgbClr val="FFFFFF"/>
                </a:solidFill>
                <a:latin typeface="Segoe UI"/>
              </a:defRPr>
            </a:pPr>
            <a:r>
              <a:t>2. Debt-to-Income Ratio (DTI)</a:t>
            </a:r>
          </a:p>
          <a:p>
            <a:pPr>
              <a:spcBef>
                <a:spcPts val="200"/>
              </a:spcBef>
              <a:defRPr sz="850">
                <a:solidFill>
                  <a:srgbClr val="38BDF8"/>
                </a:solidFill>
                <a:latin typeface="Consolas"/>
              </a:defRPr>
            </a:pPr>
            <a:r>
              <a:t>DTI = [(Existing Monthly EMI + New Loan EMI) / Monthly Income] x 100</a:t>
            </a:r>
            <a:br/>
            <a:r>
              <a:t>Prudent Banking Benchmark: &lt;= 40% (Alert threshold at 50%)</a:t>
            </a:r>
          </a:p>
          <a:p>
            <a:pPr>
              <a:spcBef>
                <a:spcPts val="600"/>
              </a:spcBef>
              <a:defRPr sz="1000" b="1">
                <a:solidFill>
                  <a:srgbClr val="FFFFFF"/>
                </a:solidFill>
                <a:latin typeface="Segoe UI"/>
              </a:defRPr>
            </a:pPr>
            <a:r>
              <a:t>3. Loan-to-Value Ratio (LTV)</a:t>
            </a:r>
          </a:p>
          <a:p>
            <a:pPr>
              <a:spcBef>
                <a:spcPts val="200"/>
              </a:spcBef>
              <a:defRPr sz="850">
                <a:solidFill>
                  <a:srgbClr val="38BDF8"/>
                </a:solidFill>
                <a:latin typeface="Consolas"/>
              </a:defRPr>
            </a:pPr>
            <a:r>
              <a:t>LTV = [Loan Amount / Immovable Collateral (Res + Com Assets)] x 100</a:t>
            </a:r>
            <a:br/>
            <a:r>
              <a:t>Prudent Lending Cap: &lt;= 80% (Protects lender default cushion)</a:t>
            </a:r>
          </a:p>
          <a:p>
            <a:pPr>
              <a:spcBef>
                <a:spcPts val="600"/>
              </a:spcBef>
              <a:defRPr sz="1000" b="1">
                <a:solidFill>
                  <a:srgbClr val="FFFFFF"/>
                </a:solidFill>
                <a:latin typeface="Segoe UI"/>
              </a:defRPr>
            </a:pPr>
            <a:r>
              <a:t>4. Net Disposable Monthly Surplus</a:t>
            </a:r>
          </a:p>
          <a:p>
            <a:pPr>
              <a:spcBef>
                <a:spcPts val="200"/>
              </a:spcBef>
              <a:defRPr sz="850">
                <a:solidFill>
                  <a:srgbClr val="38BDF8"/>
                </a:solidFill>
                <a:latin typeface="Consolas"/>
              </a:defRPr>
            </a:pPr>
            <a:r>
              <a:t>Disposable Surplus = Monthly Income - Total Debt - Living Expenses</a:t>
            </a:r>
            <a:br/>
            <a:r>
              <a:t>Measures liquid buffer available after meeting all commitments</a:t>
            </a:r>
          </a:p>
          <a:p>
            <a:pPr>
              <a:spcBef>
                <a:spcPts val="600"/>
              </a:spcBef>
              <a:defRPr sz="1000" b="1">
                <a:solidFill>
                  <a:srgbClr val="FFFFFF"/>
                </a:solidFill>
                <a:latin typeface="Segoe UI"/>
              </a:defRPr>
            </a:pPr>
            <a:r>
              <a:t>5. Repayment Buffer Multiple</a:t>
            </a:r>
          </a:p>
          <a:p>
            <a:pPr>
              <a:spcBef>
                <a:spcPts val="200"/>
              </a:spcBef>
              <a:defRPr sz="850">
                <a:solidFill>
                  <a:srgbClr val="38BDF8"/>
                </a:solidFill>
                <a:latin typeface="Consolas"/>
              </a:defRPr>
            </a:pPr>
            <a:r>
              <a:t>Buffer = Disposable Surplus / New Loan EMI</a:t>
            </a:r>
            <a:br/>
            <a:r>
              <a:t>Calculates how many multiples of the new EMI can be absorbed</a:t>
            </a:r>
          </a:p>
        </p:txBody>
      </p:sp>
      <p:sp>
        <p:nvSpPr>
          <p:cNvPr id="10" name="Rounded Rectangle 9"/>
          <p:cNvSpPr/>
          <p:nvPr/>
        </p:nvSpPr>
        <p:spPr>
          <a:xfrm>
            <a:off x="6035040" y="1508760"/>
            <a:ext cx="5425135" cy="470916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645920"/>
            <a:ext cx="5029200" cy="4389120"/>
          </a:xfrm>
          <a:prstGeom prst="rect">
            <a:avLst/>
          </a:prstGeom>
          <a:noFill/>
        </p:spPr>
        <p:txBody>
          <a:bodyPr wrap="square">
            <a:spAutoFit/>
          </a:bodyPr>
          <a:lstStyle/>
          <a:p>
            <a:pPr>
              <a:defRPr sz="1100" b="1">
                <a:solidFill>
                  <a:srgbClr val="38BDF8"/>
                </a:solidFill>
                <a:latin typeface="Segoe UI"/>
              </a:defRPr>
            </a:pPr>
            <a:r>
              <a:t>VERIFIED NUMERICAL UNDERWRITING CASE STUDY</a:t>
            </a:r>
          </a:p>
          <a:p>
            <a:pPr>
              <a:spcBef>
                <a:spcPts val="600"/>
              </a:spcBef>
              <a:defRPr sz="1000" b="1">
                <a:solidFill>
                  <a:srgbClr val="FFFFFF"/>
                </a:solidFill>
                <a:latin typeface="Segoe UI"/>
              </a:defRPr>
            </a:pPr>
            <a:r>
              <a:t>INPUT APPLICANT &amp; LOAN PARAMETERS</a:t>
            </a:r>
          </a:p>
          <a:p>
            <a:pPr>
              <a:spcBef>
                <a:spcPts val="200"/>
              </a:spcBef>
              <a:defRPr sz="950">
                <a:solidFill>
                  <a:srgbClr val="CBD5E1"/>
                </a:solidFill>
                <a:latin typeface="Segoe UI"/>
              </a:defRPr>
            </a:pPr>
            <a:r>
              <a:t>• Annual Income: Rs 4,800,000 (Monthly Income = Rs 400,000)</a:t>
            </a:r>
          </a:p>
          <a:p>
            <a:pPr>
              <a:spcBef>
                <a:spcPts val="200"/>
              </a:spcBef>
              <a:defRPr sz="950">
                <a:solidFill>
                  <a:srgbClr val="CBD5E1"/>
                </a:solidFill>
                <a:latin typeface="Segoe UI"/>
              </a:defRPr>
            </a:pPr>
            <a:r>
              <a:t>• CIBIL Credit Score: 750 (Prime Credit Tier)</a:t>
            </a:r>
          </a:p>
          <a:p>
            <a:pPr>
              <a:spcBef>
                <a:spcPts val="200"/>
              </a:spcBef>
              <a:defRPr sz="950">
                <a:solidFill>
                  <a:srgbClr val="CBD5E1"/>
                </a:solidFill>
                <a:latin typeface="Segoe UI"/>
              </a:defRPr>
            </a:pPr>
            <a:r>
              <a:t>• Requested Principal: Rs 2,500,000  |  Tenure: 15 Years (180 months)</a:t>
            </a:r>
          </a:p>
          <a:p>
            <a:pPr>
              <a:spcBef>
                <a:spcPts val="200"/>
              </a:spcBef>
              <a:defRPr sz="950">
                <a:solidFill>
                  <a:srgbClr val="CBD5E1"/>
                </a:solidFill>
                <a:latin typeface="Segoe UI"/>
              </a:defRPr>
            </a:pPr>
            <a:r>
              <a:t>• Annual Interest Rate: 8.5% p.a.  |  Existing Monthly EMIs: Rs 8,000</a:t>
            </a:r>
          </a:p>
          <a:p>
            <a:pPr>
              <a:spcBef>
                <a:spcPts val="200"/>
              </a:spcBef>
              <a:defRPr sz="950">
                <a:solidFill>
                  <a:srgbClr val="CBD5E1"/>
                </a:solidFill>
                <a:latin typeface="Segoe UI"/>
              </a:defRPr>
            </a:pPr>
            <a:r>
              <a:t>• Asset Valuation: Res (Rs 2.4M) + Com (Rs 1.8M) + Lux (Rs 2.2M) + Bank (Rs 800k)</a:t>
            </a:r>
          </a:p>
          <a:p>
            <a:pPr>
              <a:spcBef>
                <a:spcPts val="200"/>
              </a:spcBef>
              <a:defRPr sz="950">
                <a:solidFill>
                  <a:srgbClr val="CBD5E1"/>
                </a:solidFill>
                <a:latin typeface="Segoe UI"/>
              </a:defRPr>
            </a:pPr>
            <a:r>
              <a:t>• Estimated Monthly Living Expenses: Rs 60,000</a:t>
            </a:r>
          </a:p>
          <a:p>
            <a:pPr>
              <a:spcBef>
                <a:spcPts val="1000"/>
              </a:spcBef>
              <a:defRPr sz="1000" b="1">
                <a:solidFill>
                  <a:srgbClr val="10B981"/>
                </a:solidFill>
                <a:latin typeface="Segoe UI"/>
              </a:defRPr>
            </a:pPr>
            <a:r>
              <a:t>ACTUAL SYSTEM CALCULATED OUTPUTS</a:t>
            </a:r>
          </a:p>
          <a:p>
            <a:pPr>
              <a:spcBef>
                <a:spcPts val="200"/>
              </a:spcBef>
              <a:defRPr sz="950" b="0">
                <a:solidFill>
                  <a:srgbClr val="FFFFFF"/>
                </a:solidFill>
                <a:latin typeface="Segoe UI"/>
              </a:defRPr>
            </a:pPr>
            <a:r>
              <a:t>✓ Monthly EMI Calculated: Rs 24,621.84 / month</a:t>
            </a:r>
          </a:p>
          <a:p>
            <a:pPr>
              <a:spcBef>
                <a:spcPts val="200"/>
              </a:spcBef>
              <a:defRPr sz="950" b="0">
                <a:solidFill>
                  <a:srgbClr val="FFFFFF"/>
                </a:solidFill>
                <a:latin typeface="Segoe UI"/>
              </a:defRPr>
            </a:pPr>
            <a:r>
              <a:t>✓ Total Interest Payable: Rs 1,931,931 (43.6% of total repayment)</a:t>
            </a:r>
          </a:p>
          <a:p>
            <a:pPr>
              <a:spcBef>
                <a:spcPts val="200"/>
              </a:spcBef>
              <a:defRPr sz="950" b="0">
                <a:solidFill>
                  <a:srgbClr val="FFFFFF"/>
                </a:solidFill>
                <a:latin typeface="Segoe UI"/>
              </a:defRPr>
            </a:pPr>
            <a:r>
              <a:t>✓ Total Asset Valuation: Rs 7,200,000 (2.88x total loan coverage)</a:t>
            </a:r>
          </a:p>
          <a:p>
            <a:pPr>
              <a:spcBef>
                <a:spcPts val="200"/>
              </a:spcBef>
              <a:defRPr sz="950" b="0">
                <a:solidFill>
                  <a:srgbClr val="FFFFFF"/>
                </a:solidFill>
                <a:latin typeface="Segoe UI"/>
              </a:defRPr>
            </a:pPr>
            <a:r>
              <a:t>✓ Debt-to-Income (DTI): 8.16% (Extremely healthy, well below 40%)</a:t>
            </a:r>
          </a:p>
          <a:p>
            <a:pPr>
              <a:spcBef>
                <a:spcPts val="200"/>
              </a:spcBef>
              <a:defRPr sz="950" b="0">
                <a:solidFill>
                  <a:srgbClr val="FFFFFF"/>
                </a:solidFill>
                <a:latin typeface="Segoe UI"/>
              </a:defRPr>
            </a:pPr>
            <a:r>
              <a:t>✓ Loan-to-Value (LTV): 59.52% (Comfortably under 80% ceiling)</a:t>
            </a:r>
          </a:p>
          <a:p>
            <a:pPr>
              <a:spcBef>
                <a:spcPts val="200"/>
              </a:spcBef>
              <a:defRPr sz="950" b="0">
                <a:solidFill>
                  <a:srgbClr val="FFFFFF"/>
                </a:solidFill>
                <a:latin typeface="Segoe UI"/>
              </a:defRPr>
            </a:pPr>
            <a:r>
              <a:t>✓ Net Monthly Surplus: Rs 307,378 / month liquid cash buffer</a:t>
            </a:r>
          </a:p>
          <a:p>
            <a:pPr>
              <a:spcBef>
                <a:spcPts val="200"/>
              </a:spcBef>
              <a:defRPr sz="950" b="0">
                <a:solidFill>
                  <a:srgbClr val="FFFFFF"/>
                </a:solidFill>
                <a:latin typeface="Segoe UI"/>
              </a:defRPr>
            </a:pPr>
            <a:r>
              <a:t>✓ Repayment Buffer Ratio: 12.48x Monthly EMI coverage</a:t>
            </a:r>
          </a:p>
          <a:p>
            <a:pPr>
              <a:spcBef>
                <a:spcPts val="200"/>
              </a:spcBef>
              <a:defRPr sz="950" b="1">
                <a:solidFill>
                  <a:srgbClr val="10B981"/>
                </a:solidFill>
                <a:latin typeface="Segoe UI"/>
              </a:defRPr>
            </a:pPr>
            <a:r>
              <a:t>✓ Underwriting Decision: ELIGIBLE (Composite Risk: 18.4 / 100 - Low Risk)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Segoe UI"/>
              </a:defRPr>
            </a:pPr>
            <a:r>
              <a:t>LOANWISER  •  REVIEW 2: IMPLEMENTATION &amp; RESULTS</a:t>
            </a:r>
          </a:p>
        </p:txBody>
      </p:sp>
      <p:sp>
        <p:nvSpPr>
          <p:cNvPr id="4" name="TextBox 3"/>
          <p:cNvSpPr txBox="1"/>
          <p:nvPr/>
        </p:nvSpPr>
        <p:spPr>
          <a:xfrm>
            <a:off x="731520" y="594360"/>
            <a:ext cx="10698480" cy="502920"/>
          </a:xfrm>
          <a:prstGeom prst="rect">
            <a:avLst/>
          </a:prstGeom>
          <a:noFill/>
        </p:spPr>
        <p:txBody>
          <a:bodyPr wrap="square" lIns="0" tIns="0" rIns="0" bIns="0">
            <a:spAutoFit/>
          </a:bodyPr>
          <a:lstStyle/>
          <a:p>
            <a:pPr>
              <a:defRPr sz="2100" b="1">
                <a:solidFill>
                  <a:srgbClr val="FFFFFF"/>
                </a:solidFill>
                <a:latin typeface="Segoe UI"/>
              </a:defRPr>
            </a:pPr>
            <a:r>
              <a:t>Machine Learning Implementation &amp; Workflow</a:t>
            </a:r>
          </a:p>
        </p:txBody>
      </p:sp>
      <p:sp>
        <p:nvSpPr>
          <p:cNvPr id="5" name="TextBox 4"/>
          <p:cNvSpPr txBox="1"/>
          <p:nvPr/>
        </p:nvSpPr>
        <p:spPr>
          <a:xfrm>
            <a:off x="731520" y="1078992"/>
            <a:ext cx="10698480" cy="320040"/>
          </a:xfrm>
          <a:prstGeom prst="rect">
            <a:avLst/>
          </a:prstGeom>
          <a:noFill/>
        </p:spPr>
        <p:txBody>
          <a:bodyPr wrap="square" lIns="0" tIns="0" rIns="0" bIns="0">
            <a:spAutoFit/>
          </a:bodyPr>
          <a:lstStyle/>
          <a:p>
            <a:pPr>
              <a:defRPr sz="1100">
                <a:solidFill>
                  <a:srgbClr val="94A3B8"/>
                </a:solidFill>
                <a:latin typeface="Segoe UI"/>
              </a:defRPr>
            </a:pPr>
            <a:r>
              <a:t>Three Classification Architectures Trained with Stratified 5-Fold Cross-Validation in R</a:t>
            </a:r>
          </a:p>
        </p:txBody>
      </p:sp>
      <p:sp>
        <p:nvSpPr>
          <p:cNvPr id="6" name="TextBox 5"/>
          <p:cNvSpPr txBox="1"/>
          <p:nvPr/>
        </p:nvSpPr>
        <p:spPr>
          <a:xfrm>
            <a:off x="731520" y="6492240"/>
            <a:ext cx="9144000" cy="274320"/>
          </a:xfrm>
          <a:prstGeom prst="rect">
            <a:avLst/>
          </a:prstGeom>
          <a:noFill/>
        </p:spPr>
        <p:txBody>
          <a:bodyPr wrap="none" lIns="0" tIns="0" rIns="0" bIns="0">
            <a:spAutoFit/>
          </a:bodyPr>
          <a:lstStyle/>
          <a:p>
            <a:pPr>
              <a:defRPr sz="900">
                <a:solidFill>
                  <a:srgbClr val="94A3B8"/>
                </a:solidFill>
                <a:latin typeface="Segoe UI"/>
              </a:defRPr>
            </a:pPr>
            <a:r>
              <a:t>LOANWISER  |  Review 2: Implementation &amp; Results  |  S. Karpagam (24BDS1210) &amp; Shruti Chaturvedi (24BDS1003)</a:t>
            </a:r>
          </a:p>
        </p:txBody>
      </p:sp>
      <p:sp>
        <p:nvSpPr>
          <p:cNvPr id="7" name="TextBox 6"/>
          <p:cNvSpPr txBox="1"/>
          <p:nvPr/>
        </p:nvSpPr>
        <p:spPr>
          <a:xfrm>
            <a:off x="10515600" y="6492240"/>
            <a:ext cx="914400" cy="274320"/>
          </a:xfrm>
          <a:prstGeom prst="rect">
            <a:avLst/>
          </a:prstGeom>
          <a:noFill/>
        </p:spPr>
        <p:txBody>
          <a:bodyPr wrap="none" lIns="0" tIns="0" rIns="0" bIns="0">
            <a:spAutoFit/>
          </a:bodyPr>
          <a:lstStyle/>
          <a:p>
            <a:pPr algn="r">
              <a:defRPr sz="900" b="1">
                <a:solidFill>
                  <a:srgbClr val="38BDF8"/>
                </a:solidFill>
                <a:latin typeface="Segoe UI"/>
              </a:defRPr>
            </a:pPr>
            <a:r>
              <a:t>8 / 15</a:t>
            </a:r>
          </a:p>
        </p:txBody>
      </p:sp>
      <p:sp>
        <p:nvSpPr>
          <p:cNvPr id="8" name="Rounded Rectangle 7"/>
          <p:cNvSpPr/>
          <p:nvPr/>
        </p:nvSpPr>
        <p:spPr>
          <a:xfrm>
            <a:off x="731520" y="1508760"/>
            <a:ext cx="3447288" cy="4709160"/>
          </a:xfrm>
          <a:prstGeom prst="roundRect">
            <a:avLst/>
          </a:prstGeom>
          <a:solidFill>
            <a:srgbClr val="132238"/>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3081528" cy="4343400"/>
          </a:xfrm>
          <a:prstGeom prst="rect">
            <a:avLst/>
          </a:prstGeom>
          <a:noFill/>
        </p:spPr>
        <p:txBody>
          <a:bodyPr wrap="square">
            <a:spAutoFit/>
          </a:bodyPr>
          <a:lstStyle/>
          <a:p>
            <a:pPr>
              <a:defRPr sz="950" b="1">
                <a:solidFill>
                  <a:srgbClr val="38BDF8"/>
                </a:solidFill>
                <a:latin typeface="Segoe UI"/>
              </a:defRPr>
            </a:pPr>
            <a:r>
              <a:t>PARAMETRIC BASELINE</a:t>
            </a:r>
          </a:p>
          <a:p>
            <a:pPr>
              <a:spcBef>
                <a:spcPts val="200"/>
              </a:spcBef>
              <a:defRPr sz="1600" b="1">
                <a:solidFill>
                  <a:srgbClr val="FFFFFF"/>
                </a:solidFill>
                <a:latin typeface="Segoe UI"/>
              </a:defRPr>
            </a:pPr>
            <a:r>
              <a:t>Logistic Regression</a:t>
            </a:r>
          </a:p>
          <a:p>
            <a:pPr>
              <a:spcBef>
                <a:spcPts val="400"/>
              </a:spcBef>
              <a:defRPr sz="850">
                <a:solidFill>
                  <a:srgbClr val="38BDF8"/>
                </a:solidFill>
                <a:latin typeface="Consolas"/>
              </a:defRPr>
            </a:pPr>
            <a:r>
              <a:t>stats::glm(family = binomial(logit))</a:t>
            </a:r>
          </a:p>
          <a:p>
            <a:pPr>
              <a:spcBef>
                <a:spcPts val="400"/>
              </a:spcBef>
              <a:defRPr sz="950">
                <a:solidFill>
                  <a:srgbClr val="CBD5E1"/>
                </a:solidFill>
                <a:latin typeface="Segoe UI"/>
              </a:defRPr>
            </a:pPr>
            <a:r>
              <a:t>• Models log-odds of loan approval as linear combination of financial predictors.</a:t>
            </a:r>
          </a:p>
          <a:p>
            <a:pPr>
              <a:spcBef>
                <a:spcPts val="400"/>
              </a:spcBef>
              <a:defRPr sz="950">
                <a:solidFill>
                  <a:srgbClr val="CBD5E1"/>
                </a:solidFill>
                <a:latin typeface="Segoe UI"/>
              </a:defRPr>
            </a:pPr>
            <a:r>
              <a:t>• Serves as the institutional banking benchmark for credit scoring.</a:t>
            </a:r>
          </a:p>
          <a:p>
            <a:pPr>
              <a:spcBef>
                <a:spcPts val="400"/>
              </a:spcBef>
              <a:defRPr sz="950">
                <a:solidFill>
                  <a:srgbClr val="CBD5E1"/>
                </a:solidFill>
                <a:latin typeface="Segoe UI"/>
              </a:defRPr>
            </a:pPr>
            <a:r>
              <a:t>• Provides highly interpretable odds ratios for credit committees.</a:t>
            </a:r>
          </a:p>
          <a:p>
            <a:pPr>
              <a:spcBef>
                <a:spcPts val="400"/>
              </a:spcBef>
              <a:defRPr sz="950" b="1">
                <a:solidFill>
                  <a:srgbClr val="FFFFFF"/>
                </a:solidFill>
                <a:latin typeface="Segoe UI"/>
              </a:defRPr>
            </a:pPr>
            <a:r>
              <a:t>• 5-Fold CV Accuracy: 94.38%</a:t>
            </a:r>
          </a:p>
          <a:p>
            <a:pPr>
              <a:spcBef>
                <a:spcPts val="400"/>
              </a:spcBef>
              <a:defRPr sz="950" b="1">
                <a:solidFill>
                  <a:srgbClr val="FFFFFF"/>
                </a:solidFill>
                <a:latin typeface="Segoe UI"/>
              </a:defRPr>
            </a:pPr>
            <a:r>
              <a:t>• 5-Fold CV ROC-AUC: 0.9813</a:t>
            </a:r>
          </a:p>
          <a:p>
            <a:pPr>
              <a:spcBef>
                <a:spcPts val="400"/>
              </a:spcBef>
              <a:defRPr sz="950" b="1">
                <a:solidFill>
                  <a:srgbClr val="FFFFFF"/>
                </a:solidFill>
                <a:latin typeface="Segoe UI"/>
              </a:defRPr>
            </a:pPr>
            <a:r>
              <a:t>• Held-Out Test Accuracy: 94.26%</a:t>
            </a:r>
          </a:p>
          <a:p>
            <a:pPr>
              <a:spcBef>
                <a:spcPts val="400"/>
              </a:spcBef>
              <a:defRPr sz="950" b="1">
                <a:solidFill>
                  <a:srgbClr val="FFFFFF"/>
                </a:solidFill>
                <a:latin typeface="Segoe UI"/>
              </a:defRPr>
            </a:pPr>
            <a:r>
              <a:t>• Held-Out Test ROC-AUC: 0.9814</a:t>
            </a:r>
          </a:p>
        </p:txBody>
      </p:sp>
      <p:sp>
        <p:nvSpPr>
          <p:cNvPr id="10" name="Rounded Rectangle 9"/>
          <p:cNvSpPr/>
          <p:nvPr/>
        </p:nvSpPr>
        <p:spPr>
          <a:xfrm>
            <a:off x="4361688" y="1508760"/>
            <a:ext cx="3447288" cy="4709160"/>
          </a:xfrm>
          <a:prstGeom prst="roundRect">
            <a:avLst/>
          </a:prstGeom>
          <a:solidFill>
            <a:srgbClr val="132238"/>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1645920"/>
            <a:ext cx="3081528" cy="4343400"/>
          </a:xfrm>
          <a:prstGeom prst="rect">
            <a:avLst/>
          </a:prstGeom>
          <a:noFill/>
        </p:spPr>
        <p:txBody>
          <a:bodyPr wrap="square">
            <a:spAutoFit/>
          </a:bodyPr>
          <a:lstStyle/>
          <a:p>
            <a:pPr>
              <a:defRPr sz="950" b="1">
                <a:solidFill>
                  <a:srgbClr val="10B981"/>
                </a:solidFill>
                <a:latin typeface="Segoe UI"/>
              </a:defRPr>
            </a:pPr>
            <a:r>
              <a:t>BAGGING ENSEMBLE (WINNER)</a:t>
            </a:r>
          </a:p>
          <a:p>
            <a:pPr>
              <a:spcBef>
                <a:spcPts val="200"/>
              </a:spcBef>
              <a:defRPr sz="1600" b="1">
                <a:solidFill>
                  <a:srgbClr val="FFFFFF"/>
                </a:solidFill>
                <a:latin typeface="Segoe UI"/>
              </a:defRPr>
            </a:pPr>
            <a:r>
              <a:t>Random Forest</a:t>
            </a:r>
          </a:p>
          <a:p>
            <a:pPr>
              <a:spcBef>
                <a:spcPts val="400"/>
              </a:spcBef>
              <a:defRPr sz="850">
                <a:solidFill>
                  <a:srgbClr val="38BDF8"/>
                </a:solidFill>
                <a:latin typeface="Consolas"/>
              </a:defRPr>
            </a:pPr>
            <a:r>
              <a:t>randomForest(ntree=120, mtry=5)</a:t>
            </a:r>
          </a:p>
          <a:p>
            <a:pPr>
              <a:spcBef>
                <a:spcPts val="400"/>
              </a:spcBef>
              <a:defRPr sz="950">
                <a:solidFill>
                  <a:srgbClr val="CBD5E1"/>
                </a:solidFill>
                <a:latin typeface="Segoe UI"/>
              </a:defRPr>
            </a:pPr>
            <a:r>
              <a:t>• Ensemble of 120 de-correlated decision trees with bootstrap aggregation.</a:t>
            </a:r>
          </a:p>
          <a:p>
            <a:pPr>
              <a:spcBef>
                <a:spcPts val="400"/>
              </a:spcBef>
              <a:defRPr sz="950">
                <a:solidFill>
                  <a:srgbClr val="CBD5E1"/>
                </a:solidFill>
                <a:latin typeface="Segoe UI"/>
              </a:defRPr>
            </a:pPr>
            <a:r>
              <a:t>• Captures non-linear thresholds and multi-way asset interactions.</a:t>
            </a:r>
          </a:p>
          <a:p>
            <a:pPr>
              <a:spcBef>
                <a:spcPts val="400"/>
              </a:spcBef>
              <a:defRPr sz="950">
                <a:solidFill>
                  <a:srgbClr val="CBD5E1"/>
                </a:solidFill>
                <a:latin typeface="Segoe UI"/>
              </a:defRPr>
            </a:pPr>
            <a:r>
              <a:t>• Extracts feature importance via Mean Decrease in Gini impurity.</a:t>
            </a:r>
          </a:p>
          <a:p>
            <a:pPr>
              <a:spcBef>
                <a:spcPts val="400"/>
              </a:spcBef>
              <a:defRPr sz="950" b="1">
                <a:solidFill>
                  <a:srgbClr val="10B981"/>
                </a:solidFill>
                <a:latin typeface="Segoe UI"/>
              </a:defRPr>
            </a:pPr>
            <a:r>
              <a:t>• 5-Fold CV Accuracy: 99.85%</a:t>
            </a:r>
          </a:p>
          <a:p>
            <a:pPr>
              <a:spcBef>
                <a:spcPts val="400"/>
              </a:spcBef>
              <a:defRPr sz="950" b="1">
                <a:solidFill>
                  <a:srgbClr val="10B981"/>
                </a:solidFill>
                <a:latin typeface="Segoe UI"/>
              </a:defRPr>
            </a:pPr>
            <a:r>
              <a:t>• 5-Fold CV ROC-AUC: 1.0000</a:t>
            </a:r>
          </a:p>
          <a:p>
            <a:pPr>
              <a:spcBef>
                <a:spcPts val="400"/>
              </a:spcBef>
              <a:defRPr sz="950" b="1">
                <a:solidFill>
                  <a:srgbClr val="10B981"/>
                </a:solidFill>
                <a:latin typeface="Segoe UI"/>
              </a:defRPr>
            </a:pPr>
            <a:r>
              <a:t>• Held-Out Test Accuracy: 99.77%</a:t>
            </a:r>
          </a:p>
          <a:p>
            <a:pPr>
              <a:spcBef>
                <a:spcPts val="400"/>
              </a:spcBef>
              <a:defRPr sz="950" b="1">
                <a:solidFill>
                  <a:srgbClr val="10B981"/>
                </a:solidFill>
                <a:latin typeface="Segoe UI"/>
              </a:defRPr>
            </a:pPr>
            <a:r>
              <a:t>• Held-Out Test ROC-AUC: 1.0000</a:t>
            </a:r>
          </a:p>
        </p:txBody>
      </p:sp>
      <p:sp>
        <p:nvSpPr>
          <p:cNvPr id="12" name="Rounded Rectangle 11"/>
          <p:cNvSpPr/>
          <p:nvPr/>
        </p:nvSpPr>
        <p:spPr>
          <a:xfrm>
            <a:off x="7991856" y="1508760"/>
            <a:ext cx="3447288" cy="4709160"/>
          </a:xfrm>
          <a:prstGeom prst="roundRect">
            <a:avLst/>
          </a:prstGeom>
          <a:solidFill>
            <a:srgbClr val="132238"/>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74736" y="1645920"/>
            <a:ext cx="3081528" cy="4343400"/>
          </a:xfrm>
          <a:prstGeom prst="rect">
            <a:avLst/>
          </a:prstGeom>
          <a:noFill/>
        </p:spPr>
        <p:txBody>
          <a:bodyPr wrap="square">
            <a:spAutoFit/>
          </a:bodyPr>
          <a:lstStyle/>
          <a:p>
            <a:pPr>
              <a:defRPr sz="950" b="1">
                <a:solidFill>
                  <a:srgbClr val="2563EB"/>
                </a:solidFill>
                <a:latin typeface="Segoe UI"/>
              </a:defRPr>
            </a:pPr>
            <a:r>
              <a:t>GRADIENT BOOSTED TREES</a:t>
            </a:r>
          </a:p>
          <a:p>
            <a:pPr>
              <a:spcBef>
                <a:spcPts val="200"/>
              </a:spcBef>
              <a:defRPr sz="1600" b="1">
                <a:solidFill>
                  <a:srgbClr val="FFFFFF"/>
                </a:solidFill>
                <a:latin typeface="Segoe UI"/>
              </a:defRPr>
            </a:pPr>
            <a:r>
              <a:t>XGBoost</a:t>
            </a:r>
          </a:p>
          <a:p>
            <a:pPr>
              <a:spcBef>
                <a:spcPts val="400"/>
              </a:spcBef>
              <a:defRPr sz="850">
                <a:solidFill>
                  <a:srgbClr val="38BDF8"/>
                </a:solidFill>
                <a:latin typeface="Consolas"/>
              </a:defRPr>
            </a:pPr>
            <a:r>
              <a:t>xgboost::xgb.train(objective=binary:logistic)</a:t>
            </a:r>
          </a:p>
          <a:p>
            <a:pPr>
              <a:spcBef>
                <a:spcPts val="400"/>
              </a:spcBef>
              <a:defRPr sz="950">
                <a:solidFill>
                  <a:srgbClr val="CBD5E1"/>
                </a:solidFill>
                <a:latin typeface="Segoe UI"/>
              </a:defRPr>
            </a:pPr>
            <a:r>
              <a:t>• Sequentially fits trees to the pseudo-residuals of the logistic loss function.</a:t>
            </a:r>
          </a:p>
          <a:p>
            <a:pPr>
              <a:spcBef>
                <a:spcPts val="400"/>
              </a:spcBef>
              <a:defRPr sz="950">
                <a:solidFill>
                  <a:srgbClr val="CBD5E1"/>
                </a:solidFill>
                <a:latin typeface="Segoe UI"/>
              </a:defRPr>
            </a:pPr>
            <a:r>
              <a:t>• Hyperparameters: eta=0.08, max_depth=5, subsample=0.85, nrounds=100.</a:t>
            </a:r>
          </a:p>
          <a:p>
            <a:pPr>
              <a:spcBef>
                <a:spcPts val="400"/>
              </a:spcBef>
              <a:defRPr sz="950">
                <a:solidFill>
                  <a:srgbClr val="CBD5E1"/>
                </a:solidFill>
                <a:latin typeface="Segoe UI"/>
              </a:defRPr>
            </a:pPr>
            <a:r>
              <a:t>• Incorporates explicit L1 &amp; L2 regularization against overfitting.</a:t>
            </a:r>
          </a:p>
          <a:p>
            <a:pPr>
              <a:spcBef>
                <a:spcPts val="400"/>
              </a:spcBef>
              <a:defRPr sz="950" b="1">
                <a:solidFill>
                  <a:srgbClr val="FFFFFF"/>
                </a:solidFill>
                <a:latin typeface="Segoe UI"/>
              </a:defRPr>
            </a:pPr>
            <a:r>
              <a:t>• 5-Fold CV Accuracy: 99.85%</a:t>
            </a:r>
          </a:p>
          <a:p>
            <a:pPr>
              <a:spcBef>
                <a:spcPts val="400"/>
              </a:spcBef>
              <a:defRPr sz="950" b="1">
                <a:solidFill>
                  <a:srgbClr val="FFFFFF"/>
                </a:solidFill>
                <a:latin typeface="Segoe UI"/>
              </a:defRPr>
            </a:pPr>
            <a:r>
              <a:t>• 5-Fold CV ROC-AUC: 1.0000</a:t>
            </a:r>
          </a:p>
          <a:p>
            <a:pPr>
              <a:spcBef>
                <a:spcPts val="400"/>
              </a:spcBef>
              <a:defRPr sz="950" b="1">
                <a:solidFill>
                  <a:srgbClr val="FFFFFF"/>
                </a:solidFill>
                <a:latin typeface="Segoe UI"/>
              </a:defRPr>
            </a:pPr>
            <a:r>
              <a:t>• Held-Out Test Accuracy: 99.88%</a:t>
            </a:r>
          </a:p>
          <a:p>
            <a:pPr>
              <a:spcBef>
                <a:spcPts val="400"/>
              </a:spcBef>
              <a:defRPr sz="950" b="1">
                <a:solidFill>
                  <a:srgbClr val="FFFFFF"/>
                </a:solidFill>
                <a:latin typeface="Segoe UI"/>
              </a:defRPr>
            </a:pPr>
            <a:r>
              <a:t>• Held-Out Test ROC-AUC: 1.0000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Segoe UI"/>
              </a:defRPr>
            </a:pPr>
            <a:r>
              <a:t>LOANWISER  •  REVIEW 2: IMPLEMENTATION &amp; RESULTS</a:t>
            </a:r>
          </a:p>
        </p:txBody>
      </p:sp>
      <p:sp>
        <p:nvSpPr>
          <p:cNvPr id="4" name="TextBox 3"/>
          <p:cNvSpPr txBox="1"/>
          <p:nvPr/>
        </p:nvSpPr>
        <p:spPr>
          <a:xfrm>
            <a:off x="731520" y="594360"/>
            <a:ext cx="10698480" cy="502920"/>
          </a:xfrm>
          <a:prstGeom prst="rect">
            <a:avLst/>
          </a:prstGeom>
          <a:noFill/>
        </p:spPr>
        <p:txBody>
          <a:bodyPr wrap="square" lIns="0" tIns="0" rIns="0" bIns="0">
            <a:spAutoFit/>
          </a:bodyPr>
          <a:lstStyle/>
          <a:p>
            <a:pPr>
              <a:defRPr sz="2100" b="1">
                <a:solidFill>
                  <a:srgbClr val="FFFFFF"/>
                </a:solidFill>
                <a:latin typeface="Segoe UI"/>
              </a:defRPr>
            </a:pPr>
            <a:r>
              <a:t>Model Evaluation &amp; Benchmark Metrics</a:t>
            </a:r>
          </a:p>
        </p:txBody>
      </p:sp>
      <p:sp>
        <p:nvSpPr>
          <p:cNvPr id="5" name="TextBox 4"/>
          <p:cNvSpPr txBox="1"/>
          <p:nvPr/>
        </p:nvSpPr>
        <p:spPr>
          <a:xfrm>
            <a:off x="731520" y="1078992"/>
            <a:ext cx="10698480" cy="320040"/>
          </a:xfrm>
          <a:prstGeom prst="rect">
            <a:avLst/>
          </a:prstGeom>
          <a:noFill/>
        </p:spPr>
        <p:txBody>
          <a:bodyPr wrap="square" lIns="0" tIns="0" rIns="0" bIns="0">
            <a:spAutoFit/>
          </a:bodyPr>
          <a:lstStyle/>
          <a:p>
            <a:pPr>
              <a:defRPr sz="1100">
                <a:solidFill>
                  <a:srgbClr val="94A3B8"/>
                </a:solidFill>
                <a:latin typeface="Segoe UI"/>
              </a:defRPr>
            </a:pPr>
            <a:r>
              <a:t>Verified Experimental Results on Held-Out Test Set (854 Observations) &amp; ROC Analysis</a:t>
            </a:r>
          </a:p>
        </p:txBody>
      </p:sp>
      <p:sp>
        <p:nvSpPr>
          <p:cNvPr id="6" name="TextBox 5"/>
          <p:cNvSpPr txBox="1"/>
          <p:nvPr/>
        </p:nvSpPr>
        <p:spPr>
          <a:xfrm>
            <a:off x="731520" y="6492240"/>
            <a:ext cx="9144000" cy="274320"/>
          </a:xfrm>
          <a:prstGeom prst="rect">
            <a:avLst/>
          </a:prstGeom>
          <a:noFill/>
        </p:spPr>
        <p:txBody>
          <a:bodyPr wrap="none" lIns="0" tIns="0" rIns="0" bIns="0">
            <a:spAutoFit/>
          </a:bodyPr>
          <a:lstStyle/>
          <a:p>
            <a:pPr>
              <a:defRPr sz="900">
                <a:solidFill>
                  <a:srgbClr val="94A3B8"/>
                </a:solidFill>
                <a:latin typeface="Segoe UI"/>
              </a:defRPr>
            </a:pPr>
            <a:r>
              <a:t>LOANWISER  |  Review 2: Implementation &amp; Results  |  S. Karpagam (24BDS1210) &amp; Shruti Chaturvedi (24BDS1003)</a:t>
            </a:r>
          </a:p>
        </p:txBody>
      </p:sp>
      <p:sp>
        <p:nvSpPr>
          <p:cNvPr id="7" name="TextBox 6"/>
          <p:cNvSpPr txBox="1"/>
          <p:nvPr/>
        </p:nvSpPr>
        <p:spPr>
          <a:xfrm>
            <a:off x="10515600" y="6492240"/>
            <a:ext cx="914400" cy="274320"/>
          </a:xfrm>
          <a:prstGeom prst="rect">
            <a:avLst/>
          </a:prstGeom>
          <a:noFill/>
        </p:spPr>
        <p:txBody>
          <a:bodyPr wrap="none" lIns="0" tIns="0" rIns="0" bIns="0">
            <a:spAutoFit/>
          </a:bodyPr>
          <a:lstStyle/>
          <a:p>
            <a:pPr algn="r">
              <a:defRPr sz="900" b="1">
                <a:solidFill>
                  <a:srgbClr val="38BDF8"/>
                </a:solidFill>
                <a:latin typeface="Segoe UI"/>
              </a:defRPr>
            </a:pPr>
            <a:r>
              <a:t>9 / 15</a:t>
            </a:r>
          </a:p>
        </p:txBody>
      </p:sp>
      <p:sp>
        <p:nvSpPr>
          <p:cNvPr id="8" name="Rounded Rectangle 7"/>
          <p:cNvSpPr/>
          <p:nvPr/>
        </p:nvSpPr>
        <p:spPr>
          <a:xfrm>
            <a:off x="731520" y="1508760"/>
            <a:ext cx="10728655" cy="210312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10332720" cy="320040"/>
          </a:xfrm>
          <a:prstGeom prst="rect">
            <a:avLst/>
          </a:prstGeom>
          <a:noFill/>
        </p:spPr>
        <p:txBody>
          <a:bodyPr wrap="none">
            <a:spAutoFit/>
          </a:bodyPr>
          <a:lstStyle/>
          <a:p>
            <a:pPr>
              <a:defRPr sz="1100" b="1">
                <a:solidFill>
                  <a:srgbClr val="38BDF8"/>
                </a:solidFill>
                <a:latin typeface="Segoe UI"/>
              </a:defRPr>
            </a:pPr>
            <a:r>
              <a:t>EMPIRICAL PERFORMANCE COMPARISON MATRIX (reports/model_evaluation.csv)</a:t>
            </a:r>
          </a:p>
        </p:txBody>
      </p:sp>
      <p:graphicFrame>
        <p:nvGraphicFramePr>
          <p:cNvPr id="10" name="Table 9"/>
          <p:cNvGraphicFramePr>
            <a:graphicFrameLocks noGrp="1"/>
          </p:cNvGraphicFramePr>
          <p:nvPr/>
        </p:nvGraphicFramePr>
        <p:xfrm>
          <a:off x="914400" y="1965960"/>
          <a:ext cx="10332720" cy="1508760"/>
        </p:xfrm>
        <a:graphic>
          <a:graphicData uri="http://schemas.openxmlformats.org/drawingml/2006/table">
            <a:tbl>
              <a:tblPr firstRow="1" bandRow="1">
                <a:tableStyleId>{5C22544A-7EE6-4342-B048-85BDC9FD1C3A}</a:tableStyleId>
              </a:tblPr>
              <a:tblGrid>
                <a:gridCol w="2011680"/>
                <a:gridCol w="1188720"/>
                <a:gridCol w="1188720"/>
                <a:gridCol w="1188720"/>
                <a:gridCol w="1188720"/>
                <a:gridCol w="1188720"/>
                <a:gridCol w="1188720"/>
                <a:gridCol w="1188720"/>
              </a:tblGrid>
              <a:tr h="377190">
                <a:tc>
                  <a:txBody>
                    <a:bodyPr/>
                    <a:lstStyle/>
                    <a:p>
                      <a:pPr>
                        <a:defRPr sz="950" b="1">
                          <a:solidFill>
                            <a:srgbClr val="38BDF8"/>
                          </a:solidFill>
                          <a:latin typeface="Segoe UI"/>
                        </a:defRPr>
                      </a:pPr>
                      <a:r>
                        <a:t>Model Architecture</a:t>
                      </a:r>
                    </a:p>
                  </a:txBody>
                  <a:tcPr>
                    <a:solidFill>
                      <a:srgbClr val="0F2A4A"/>
                    </a:solidFill>
                  </a:tcPr>
                </a:tc>
                <a:tc>
                  <a:txBody>
                    <a:bodyPr/>
                    <a:lstStyle/>
                    <a:p>
                      <a:pPr>
                        <a:defRPr sz="950" b="1">
                          <a:solidFill>
                            <a:srgbClr val="38BDF8"/>
                          </a:solidFill>
                          <a:latin typeface="Segoe UI"/>
                        </a:defRPr>
                      </a:pPr>
                      <a:r>
                        <a:t>CV Accuracy</a:t>
                      </a:r>
                    </a:p>
                  </a:txBody>
                  <a:tcPr>
                    <a:solidFill>
                      <a:srgbClr val="0F2A4A"/>
                    </a:solidFill>
                  </a:tcPr>
                </a:tc>
                <a:tc>
                  <a:txBody>
                    <a:bodyPr/>
                    <a:lstStyle/>
                    <a:p>
                      <a:pPr>
                        <a:defRPr sz="950" b="1">
                          <a:solidFill>
                            <a:srgbClr val="38BDF8"/>
                          </a:solidFill>
                          <a:latin typeface="Segoe UI"/>
                        </a:defRPr>
                      </a:pPr>
                      <a:r>
                        <a:t>CV ROC-AUC</a:t>
                      </a:r>
                    </a:p>
                  </a:txBody>
                  <a:tcPr>
                    <a:solidFill>
                      <a:srgbClr val="0F2A4A"/>
                    </a:solidFill>
                  </a:tcPr>
                </a:tc>
                <a:tc>
                  <a:txBody>
                    <a:bodyPr/>
                    <a:lstStyle/>
                    <a:p>
                      <a:pPr>
                        <a:defRPr sz="950" b="1">
                          <a:solidFill>
                            <a:srgbClr val="38BDF8"/>
                          </a:solidFill>
                          <a:latin typeface="Segoe UI"/>
                        </a:defRPr>
                      </a:pPr>
                      <a:r>
                        <a:t>Test Accuracy</a:t>
                      </a:r>
                    </a:p>
                  </a:txBody>
                  <a:tcPr>
                    <a:solidFill>
                      <a:srgbClr val="0F2A4A"/>
                    </a:solidFill>
                  </a:tcPr>
                </a:tc>
                <a:tc>
                  <a:txBody>
                    <a:bodyPr/>
                    <a:lstStyle/>
                    <a:p>
                      <a:pPr>
                        <a:defRPr sz="950" b="1">
                          <a:solidFill>
                            <a:srgbClr val="38BDF8"/>
                          </a:solidFill>
                          <a:latin typeface="Segoe UI"/>
                        </a:defRPr>
                      </a:pPr>
                      <a:r>
                        <a:t>Precision</a:t>
                      </a:r>
                    </a:p>
                  </a:txBody>
                  <a:tcPr>
                    <a:solidFill>
                      <a:srgbClr val="0F2A4A"/>
                    </a:solidFill>
                  </a:tcPr>
                </a:tc>
                <a:tc>
                  <a:txBody>
                    <a:bodyPr/>
                    <a:lstStyle/>
                    <a:p>
                      <a:pPr>
                        <a:defRPr sz="950" b="1">
                          <a:solidFill>
                            <a:srgbClr val="38BDF8"/>
                          </a:solidFill>
                          <a:latin typeface="Segoe UI"/>
                        </a:defRPr>
                      </a:pPr>
                      <a:r>
                        <a:t>Recall</a:t>
                      </a:r>
                    </a:p>
                  </a:txBody>
                  <a:tcPr>
                    <a:solidFill>
                      <a:srgbClr val="0F2A4A"/>
                    </a:solidFill>
                  </a:tcPr>
                </a:tc>
                <a:tc>
                  <a:txBody>
                    <a:bodyPr/>
                    <a:lstStyle/>
                    <a:p>
                      <a:pPr>
                        <a:defRPr sz="950" b="1">
                          <a:solidFill>
                            <a:srgbClr val="38BDF8"/>
                          </a:solidFill>
                          <a:latin typeface="Segoe UI"/>
                        </a:defRPr>
                      </a:pPr>
                      <a:r>
                        <a:t>F1-Score</a:t>
                      </a:r>
                    </a:p>
                  </a:txBody>
                  <a:tcPr>
                    <a:solidFill>
                      <a:srgbClr val="0F2A4A"/>
                    </a:solidFill>
                  </a:tcPr>
                </a:tc>
                <a:tc>
                  <a:txBody>
                    <a:bodyPr/>
                    <a:lstStyle/>
                    <a:p>
                      <a:pPr>
                        <a:defRPr sz="950" b="1">
                          <a:solidFill>
                            <a:srgbClr val="38BDF8"/>
                          </a:solidFill>
                          <a:latin typeface="Segoe UI"/>
                        </a:defRPr>
                      </a:pPr>
                      <a:r>
                        <a:t>Test ROC-AUC</a:t>
                      </a:r>
                    </a:p>
                  </a:txBody>
                  <a:tcPr>
                    <a:solidFill>
                      <a:srgbClr val="0F2A4A"/>
                    </a:solidFill>
                  </a:tcPr>
                </a:tc>
              </a:tr>
              <a:tr h="377190">
                <a:tc>
                  <a:txBody>
                    <a:bodyPr/>
                    <a:lstStyle/>
                    <a:p>
                      <a:pPr>
                        <a:defRPr sz="950" b="1">
                          <a:solidFill>
                            <a:srgbClr val="FFFFFF"/>
                          </a:solidFill>
                          <a:latin typeface="Segoe UI"/>
                        </a:defRPr>
                      </a:pPr>
                      <a:r>
                        <a:t>Logistic Regression (GLM)</a:t>
                      </a:r>
                    </a:p>
                  </a:txBody>
                  <a:tcPr>
                    <a:solidFill>
                      <a:srgbClr val="0E1C30"/>
                    </a:solidFill>
                  </a:tcPr>
                </a:tc>
                <a:tc>
                  <a:txBody>
                    <a:bodyPr/>
                    <a:lstStyle/>
                    <a:p>
                      <a:pPr>
                        <a:defRPr sz="950">
                          <a:solidFill>
                            <a:srgbClr val="CBD5E1"/>
                          </a:solidFill>
                          <a:latin typeface="Segoe UI"/>
                        </a:defRPr>
                      </a:pPr>
                      <a:r>
                        <a:t>94.38%</a:t>
                      </a:r>
                    </a:p>
                  </a:txBody>
                  <a:tcPr>
                    <a:solidFill>
                      <a:srgbClr val="0E1C30"/>
                    </a:solidFill>
                  </a:tcPr>
                </a:tc>
                <a:tc>
                  <a:txBody>
                    <a:bodyPr/>
                    <a:lstStyle/>
                    <a:p>
                      <a:pPr>
                        <a:defRPr sz="950">
                          <a:solidFill>
                            <a:srgbClr val="CBD5E1"/>
                          </a:solidFill>
                          <a:latin typeface="Segoe UI"/>
                        </a:defRPr>
                      </a:pPr>
                      <a:r>
                        <a:t>0.9813</a:t>
                      </a:r>
                    </a:p>
                  </a:txBody>
                  <a:tcPr>
                    <a:solidFill>
                      <a:srgbClr val="0E1C30"/>
                    </a:solidFill>
                  </a:tcPr>
                </a:tc>
                <a:tc>
                  <a:txBody>
                    <a:bodyPr/>
                    <a:lstStyle/>
                    <a:p>
                      <a:pPr>
                        <a:defRPr sz="950">
                          <a:solidFill>
                            <a:srgbClr val="CBD5E1"/>
                          </a:solidFill>
                          <a:latin typeface="Segoe UI"/>
                        </a:defRPr>
                      </a:pPr>
                      <a:r>
                        <a:t>94.26%</a:t>
                      </a:r>
                    </a:p>
                  </a:txBody>
                  <a:tcPr>
                    <a:solidFill>
                      <a:srgbClr val="0E1C30"/>
                    </a:solidFill>
                  </a:tcPr>
                </a:tc>
                <a:tc>
                  <a:txBody>
                    <a:bodyPr/>
                    <a:lstStyle/>
                    <a:p>
                      <a:pPr>
                        <a:defRPr sz="950">
                          <a:solidFill>
                            <a:srgbClr val="CBD5E1"/>
                          </a:solidFill>
                          <a:latin typeface="Segoe UI"/>
                        </a:defRPr>
                      </a:pPr>
                      <a:r>
                        <a:t>95.99%</a:t>
                      </a:r>
                    </a:p>
                  </a:txBody>
                  <a:tcPr>
                    <a:solidFill>
                      <a:srgbClr val="0E1C30"/>
                    </a:solidFill>
                  </a:tcPr>
                </a:tc>
                <a:tc>
                  <a:txBody>
                    <a:bodyPr/>
                    <a:lstStyle/>
                    <a:p>
                      <a:pPr>
                        <a:defRPr sz="950">
                          <a:solidFill>
                            <a:srgbClr val="CBD5E1"/>
                          </a:solidFill>
                          <a:latin typeface="Segoe UI"/>
                        </a:defRPr>
                      </a:pPr>
                      <a:r>
                        <a:t>94.73%</a:t>
                      </a:r>
                    </a:p>
                  </a:txBody>
                  <a:tcPr>
                    <a:solidFill>
                      <a:srgbClr val="0E1C30"/>
                    </a:solidFill>
                  </a:tcPr>
                </a:tc>
                <a:tc>
                  <a:txBody>
                    <a:bodyPr/>
                    <a:lstStyle/>
                    <a:p>
                      <a:pPr>
                        <a:defRPr sz="950">
                          <a:solidFill>
                            <a:srgbClr val="CBD5E1"/>
                          </a:solidFill>
                          <a:latin typeface="Segoe UI"/>
                        </a:defRPr>
                      </a:pPr>
                      <a:r>
                        <a:t>95.36%</a:t>
                      </a:r>
                    </a:p>
                  </a:txBody>
                  <a:tcPr>
                    <a:solidFill>
                      <a:srgbClr val="0E1C30"/>
                    </a:solidFill>
                  </a:tcPr>
                </a:tc>
                <a:tc>
                  <a:txBody>
                    <a:bodyPr/>
                    <a:lstStyle/>
                    <a:p>
                      <a:pPr>
                        <a:defRPr sz="950" b="1">
                          <a:solidFill>
                            <a:srgbClr val="10B981"/>
                          </a:solidFill>
                          <a:latin typeface="Segoe UI"/>
                        </a:defRPr>
                      </a:pPr>
                      <a:r>
                        <a:t>0.9814</a:t>
                      </a:r>
                    </a:p>
                  </a:txBody>
                  <a:tcPr>
                    <a:solidFill>
                      <a:srgbClr val="0E1C30"/>
                    </a:solidFill>
                  </a:tcPr>
                </a:tc>
              </a:tr>
              <a:tr h="377190">
                <a:tc>
                  <a:txBody>
                    <a:bodyPr/>
                    <a:lstStyle/>
                    <a:p>
                      <a:pPr>
                        <a:defRPr sz="950" b="1">
                          <a:solidFill>
                            <a:srgbClr val="FFFFFF"/>
                          </a:solidFill>
                          <a:latin typeface="Segoe UI"/>
                        </a:defRPr>
                      </a:pPr>
                      <a:r>
                        <a:t>Random Forest (120 Trees)</a:t>
                      </a:r>
                    </a:p>
                  </a:txBody>
                  <a:tcPr>
                    <a:solidFill>
                      <a:srgbClr val="132238"/>
                    </a:solidFill>
                  </a:tcPr>
                </a:tc>
                <a:tc>
                  <a:txBody>
                    <a:bodyPr/>
                    <a:lstStyle/>
                    <a:p>
                      <a:pPr>
                        <a:defRPr sz="950">
                          <a:solidFill>
                            <a:srgbClr val="CBD5E1"/>
                          </a:solidFill>
                          <a:latin typeface="Segoe UI"/>
                        </a:defRPr>
                      </a:pPr>
                      <a:r>
                        <a:t>99.85%</a:t>
                      </a:r>
                    </a:p>
                  </a:txBody>
                  <a:tcPr>
                    <a:solidFill>
                      <a:srgbClr val="132238"/>
                    </a:solidFill>
                  </a:tcPr>
                </a:tc>
                <a:tc>
                  <a:txBody>
                    <a:bodyPr/>
                    <a:lstStyle/>
                    <a:p>
                      <a:pPr>
                        <a:defRPr sz="950">
                          <a:solidFill>
                            <a:srgbClr val="CBD5E1"/>
                          </a:solidFill>
                          <a:latin typeface="Segoe UI"/>
                        </a:defRPr>
                      </a:pPr>
                      <a:r>
                        <a:t>1.0000</a:t>
                      </a:r>
                    </a:p>
                  </a:txBody>
                  <a:tcPr>
                    <a:solidFill>
                      <a:srgbClr val="132238"/>
                    </a:solidFill>
                  </a:tcPr>
                </a:tc>
                <a:tc>
                  <a:txBody>
                    <a:bodyPr/>
                    <a:lstStyle/>
                    <a:p>
                      <a:pPr>
                        <a:defRPr sz="950">
                          <a:solidFill>
                            <a:srgbClr val="CBD5E1"/>
                          </a:solidFill>
                          <a:latin typeface="Segoe UI"/>
                        </a:defRPr>
                      </a:pPr>
                      <a:r>
                        <a:t>99.77%</a:t>
                      </a:r>
                    </a:p>
                  </a:txBody>
                  <a:tcPr>
                    <a:solidFill>
                      <a:srgbClr val="132238"/>
                    </a:solidFill>
                  </a:tcPr>
                </a:tc>
                <a:tc>
                  <a:txBody>
                    <a:bodyPr/>
                    <a:lstStyle/>
                    <a:p>
                      <a:pPr>
                        <a:defRPr sz="950">
                          <a:solidFill>
                            <a:srgbClr val="CBD5E1"/>
                          </a:solidFill>
                          <a:latin typeface="Segoe UI"/>
                        </a:defRPr>
                      </a:pPr>
                      <a:r>
                        <a:t>99.81%</a:t>
                      </a:r>
                    </a:p>
                  </a:txBody>
                  <a:tcPr>
                    <a:solidFill>
                      <a:srgbClr val="132238"/>
                    </a:solidFill>
                  </a:tcPr>
                </a:tc>
                <a:tc>
                  <a:txBody>
                    <a:bodyPr/>
                    <a:lstStyle/>
                    <a:p>
                      <a:pPr>
                        <a:defRPr sz="950">
                          <a:solidFill>
                            <a:srgbClr val="CBD5E1"/>
                          </a:solidFill>
                          <a:latin typeface="Segoe UI"/>
                        </a:defRPr>
                      </a:pPr>
                      <a:r>
                        <a:t>99.81%</a:t>
                      </a:r>
                    </a:p>
                  </a:txBody>
                  <a:tcPr>
                    <a:solidFill>
                      <a:srgbClr val="132238"/>
                    </a:solidFill>
                  </a:tcPr>
                </a:tc>
                <a:tc>
                  <a:txBody>
                    <a:bodyPr/>
                    <a:lstStyle/>
                    <a:p>
                      <a:pPr>
                        <a:defRPr sz="950">
                          <a:solidFill>
                            <a:srgbClr val="CBD5E1"/>
                          </a:solidFill>
                          <a:latin typeface="Segoe UI"/>
                        </a:defRPr>
                      </a:pPr>
                      <a:r>
                        <a:t>99.81%</a:t>
                      </a:r>
                    </a:p>
                  </a:txBody>
                  <a:tcPr>
                    <a:solidFill>
                      <a:srgbClr val="132238"/>
                    </a:solidFill>
                  </a:tcPr>
                </a:tc>
                <a:tc>
                  <a:txBody>
                    <a:bodyPr/>
                    <a:lstStyle/>
                    <a:p>
                      <a:pPr>
                        <a:defRPr sz="950" b="1">
                          <a:solidFill>
                            <a:srgbClr val="10B981"/>
                          </a:solidFill>
                          <a:latin typeface="Segoe UI"/>
                        </a:defRPr>
                      </a:pPr>
                      <a:r>
                        <a:t>1.0000</a:t>
                      </a:r>
                    </a:p>
                  </a:txBody>
                  <a:tcPr>
                    <a:solidFill>
                      <a:srgbClr val="132238"/>
                    </a:solidFill>
                  </a:tcPr>
                </a:tc>
              </a:tr>
              <a:tr h="377190">
                <a:tc>
                  <a:txBody>
                    <a:bodyPr/>
                    <a:lstStyle/>
                    <a:p>
                      <a:pPr>
                        <a:defRPr sz="950" b="1">
                          <a:solidFill>
                            <a:srgbClr val="FFFFFF"/>
                          </a:solidFill>
                          <a:latin typeface="Segoe UI"/>
                        </a:defRPr>
                      </a:pPr>
                      <a:r>
                        <a:t>XGBoost (Boosted Trees)</a:t>
                      </a:r>
                    </a:p>
                  </a:txBody>
                  <a:tcPr>
                    <a:solidFill>
                      <a:srgbClr val="0E1C30"/>
                    </a:solidFill>
                  </a:tcPr>
                </a:tc>
                <a:tc>
                  <a:txBody>
                    <a:bodyPr/>
                    <a:lstStyle/>
                    <a:p>
                      <a:pPr>
                        <a:defRPr sz="950">
                          <a:solidFill>
                            <a:srgbClr val="CBD5E1"/>
                          </a:solidFill>
                          <a:latin typeface="Segoe UI"/>
                        </a:defRPr>
                      </a:pPr>
                      <a:r>
                        <a:t>99.85%</a:t>
                      </a:r>
                    </a:p>
                  </a:txBody>
                  <a:tcPr>
                    <a:solidFill>
                      <a:srgbClr val="0E1C30"/>
                    </a:solidFill>
                  </a:tcPr>
                </a:tc>
                <a:tc>
                  <a:txBody>
                    <a:bodyPr/>
                    <a:lstStyle/>
                    <a:p>
                      <a:pPr>
                        <a:defRPr sz="950">
                          <a:solidFill>
                            <a:srgbClr val="CBD5E1"/>
                          </a:solidFill>
                          <a:latin typeface="Segoe UI"/>
                        </a:defRPr>
                      </a:pPr>
                      <a:r>
                        <a:t>1.0000</a:t>
                      </a:r>
                    </a:p>
                  </a:txBody>
                  <a:tcPr>
                    <a:solidFill>
                      <a:srgbClr val="0E1C30"/>
                    </a:solidFill>
                  </a:tcPr>
                </a:tc>
                <a:tc>
                  <a:txBody>
                    <a:bodyPr/>
                    <a:lstStyle/>
                    <a:p>
                      <a:pPr>
                        <a:defRPr sz="950">
                          <a:solidFill>
                            <a:srgbClr val="CBD5E1"/>
                          </a:solidFill>
                          <a:latin typeface="Segoe UI"/>
                        </a:defRPr>
                      </a:pPr>
                      <a:r>
                        <a:t>99.88%</a:t>
                      </a:r>
                    </a:p>
                  </a:txBody>
                  <a:tcPr>
                    <a:solidFill>
                      <a:srgbClr val="0E1C30"/>
                    </a:solidFill>
                  </a:tcPr>
                </a:tc>
                <a:tc>
                  <a:txBody>
                    <a:bodyPr/>
                    <a:lstStyle/>
                    <a:p>
                      <a:pPr>
                        <a:defRPr sz="950">
                          <a:solidFill>
                            <a:srgbClr val="CBD5E1"/>
                          </a:solidFill>
                          <a:latin typeface="Segoe UI"/>
                        </a:defRPr>
                      </a:pPr>
                      <a:r>
                        <a:t>99.81%</a:t>
                      </a:r>
                    </a:p>
                  </a:txBody>
                  <a:tcPr>
                    <a:solidFill>
                      <a:srgbClr val="0E1C30"/>
                    </a:solidFill>
                  </a:tcPr>
                </a:tc>
                <a:tc>
                  <a:txBody>
                    <a:bodyPr/>
                    <a:lstStyle/>
                    <a:p>
                      <a:pPr>
                        <a:defRPr sz="950">
                          <a:solidFill>
                            <a:srgbClr val="CBD5E1"/>
                          </a:solidFill>
                          <a:latin typeface="Segoe UI"/>
                        </a:defRPr>
                      </a:pPr>
                      <a:r>
                        <a:t>100.00%</a:t>
                      </a:r>
                    </a:p>
                  </a:txBody>
                  <a:tcPr>
                    <a:solidFill>
                      <a:srgbClr val="0E1C30"/>
                    </a:solidFill>
                  </a:tcPr>
                </a:tc>
                <a:tc>
                  <a:txBody>
                    <a:bodyPr/>
                    <a:lstStyle/>
                    <a:p>
                      <a:pPr>
                        <a:defRPr sz="950">
                          <a:solidFill>
                            <a:srgbClr val="CBD5E1"/>
                          </a:solidFill>
                          <a:latin typeface="Segoe UI"/>
                        </a:defRPr>
                      </a:pPr>
                      <a:r>
                        <a:t>99.91%</a:t>
                      </a:r>
                    </a:p>
                  </a:txBody>
                  <a:tcPr>
                    <a:solidFill>
                      <a:srgbClr val="0E1C30"/>
                    </a:solidFill>
                  </a:tcPr>
                </a:tc>
                <a:tc>
                  <a:txBody>
                    <a:bodyPr/>
                    <a:lstStyle/>
                    <a:p>
                      <a:pPr>
                        <a:defRPr sz="950" b="1">
                          <a:solidFill>
                            <a:srgbClr val="10B981"/>
                          </a:solidFill>
                          <a:latin typeface="Segoe UI"/>
                        </a:defRPr>
                      </a:pPr>
                      <a:r>
                        <a:t>1.0000</a:t>
                      </a:r>
                    </a:p>
                  </a:txBody>
                  <a:tcPr>
                    <a:solidFill>
                      <a:srgbClr val="0E1C30"/>
                    </a:solidFill>
                  </a:tcPr>
                </a:tc>
              </a:tr>
            </a:tbl>
          </a:graphicData>
        </a:graphic>
      </p:graphicFrame>
      <p:sp>
        <p:nvSpPr>
          <p:cNvPr id="11" name="Rounded Rectangle 10"/>
          <p:cNvSpPr/>
          <p:nvPr/>
        </p:nvSpPr>
        <p:spPr>
          <a:xfrm>
            <a:off x="731520" y="3749039"/>
            <a:ext cx="5212080" cy="246888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oc_comparison.png"/>
          <p:cNvPicPr>
            <a:picLocks noChangeAspect="1"/>
          </p:cNvPicPr>
          <p:nvPr/>
        </p:nvPicPr>
        <p:blipFill>
          <a:blip r:embed="rId2"/>
          <a:stretch>
            <a:fillRect/>
          </a:stretch>
        </p:blipFill>
        <p:spPr>
          <a:xfrm>
            <a:off x="822960" y="3840480"/>
            <a:ext cx="5029200" cy="2286000"/>
          </a:xfrm>
          <a:prstGeom prst="rect">
            <a:avLst/>
          </a:prstGeom>
        </p:spPr>
      </p:pic>
      <p:sp>
        <p:nvSpPr>
          <p:cNvPr id="13" name="Rounded Rectangle 12"/>
          <p:cNvSpPr/>
          <p:nvPr/>
        </p:nvSpPr>
        <p:spPr>
          <a:xfrm>
            <a:off x="6248095" y="3749039"/>
            <a:ext cx="5212080" cy="246888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840480"/>
            <a:ext cx="4846320" cy="2286000"/>
          </a:xfrm>
          <a:prstGeom prst="rect">
            <a:avLst/>
          </a:prstGeom>
          <a:noFill/>
        </p:spPr>
        <p:txBody>
          <a:bodyPr wrap="square">
            <a:spAutoFit/>
          </a:bodyPr>
          <a:lstStyle/>
          <a:p>
            <a:pPr>
              <a:defRPr sz="1100" b="1">
                <a:solidFill>
                  <a:srgbClr val="38BDF8"/>
                </a:solidFill>
                <a:latin typeface="Segoe UI"/>
              </a:defRPr>
            </a:pPr>
            <a:r>
              <a:t>TOP PREDICTIVE FEATURES (RANDOM FOREST GINI IMPURITY)</a:t>
            </a:r>
          </a:p>
          <a:p>
            <a:pPr>
              <a:spcBef>
                <a:spcPts val="300"/>
              </a:spcBef>
              <a:defRPr sz="950" b="1">
                <a:solidFill>
                  <a:srgbClr val="FFFFFF"/>
                </a:solidFill>
                <a:latin typeface="Segoe UI"/>
              </a:defRPr>
            </a:pPr>
            <a:r>
              <a:t>1. cibil_score (Gini: 1,328.6)</a:t>
            </a:r>
          </a:p>
          <a:p>
            <a:pPr>
              <a:defRPr sz="850">
                <a:solidFill>
                  <a:srgbClr val="CBD5E1"/>
                </a:solidFill>
                <a:latin typeface="Segoe UI"/>
              </a:defRPr>
            </a:pPr>
            <a:r>
              <a:t>    Primary separator; sub-550 scores trigger instant rejection.</a:t>
            </a:r>
          </a:p>
          <a:p>
            <a:pPr>
              <a:spcBef>
                <a:spcPts val="300"/>
              </a:spcBef>
              <a:defRPr sz="950" b="1">
                <a:solidFill>
                  <a:srgbClr val="FFFFFF"/>
                </a:solidFill>
                <a:latin typeface="Segoe UI"/>
              </a:defRPr>
            </a:pPr>
            <a:r>
              <a:t>2. loan_to_income (Gini: 284.1)</a:t>
            </a:r>
          </a:p>
          <a:p>
            <a:pPr>
              <a:defRPr sz="850">
                <a:solidFill>
                  <a:srgbClr val="CBD5E1"/>
                </a:solidFill>
                <a:latin typeface="Segoe UI"/>
              </a:defRPr>
            </a:pPr>
            <a:r>
              <a:t>    Burden of requested debt relative to borrower annual income.</a:t>
            </a:r>
          </a:p>
          <a:p>
            <a:pPr>
              <a:spcBef>
                <a:spcPts val="300"/>
              </a:spcBef>
              <a:defRPr sz="950" b="1">
                <a:solidFill>
                  <a:srgbClr val="FFFFFF"/>
                </a:solidFill>
                <a:latin typeface="Segoe UI"/>
              </a:defRPr>
            </a:pPr>
            <a:r>
              <a:t>3. loan_amount (Gini: 212.7)</a:t>
            </a:r>
          </a:p>
          <a:p>
            <a:pPr>
              <a:defRPr sz="850">
                <a:solidFill>
                  <a:srgbClr val="CBD5E1"/>
                </a:solidFill>
                <a:latin typeface="Segoe UI"/>
              </a:defRPr>
            </a:pPr>
            <a:r>
              <a:t>    Total capital exposure requested by applicant.</a:t>
            </a:r>
          </a:p>
          <a:p>
            <a:pPr>
              <a:spcBef>
                <a:spcPts val="300"/>
              </a:spcBef>
              <a:defRPr sz="950" b="1">
                <a:solidFill>
                  <a:srgbClr val="FFFFFF"/>
                </a:solidFill>
                <a:latin typeface="Segoe UI"/>
              </a:defRPr>
            </a:pPr>
            <a:r>
              <a:t>4. commercial_assets_value (Gini: 145.3)</a:t>
            </a:r>
          </a:p>
          <a:p>
            <a:pPr>
              <a:defRPr sz="850">
                <a:solidFill>
                  <a:srgbClr val="CBD5E1"/>
                </a:solidFill>
                <a:latin typeface="Segoe UI"/>
              </a:defRPr>
            </a:pPr>
            <a:r>
              <a:t>    Commercial real estate pledged as loan security.</a:t>
            </a:r>
          </a:p>
          <a:p>
            <a:pPr>
              <a:spcBef>
                <a:spcPts val="300"/>
              </a:spcBef>
              <a:defRPr sz="950" b="1">
                <a:solidFill>
                  <a:srgbClr val="FFFFFF"/>
                </a:solidFill>
                <a:latin typeface="Segoe UI"/>
              </a:defRPr>
            </a:pPr>
            <a:r>
              <a:t>5. total_assets (Gini: 122.9)</a:t>
            </a:r>
          </a:p>
          <a:p>
            <a:pPr>
              <a:defRPr sz="850">
                <a:solidFill>
                  <a:srgbClr val="CBD5E1"/>
                </a:solidFill>
                <a:latin typeface="Segoe UI"/>
              </a:defRPr>
            </a:pPr>
            <a:r>
              <a:t>    Overall net worth buffer across all four asset classes.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Segoe UI"/>
              </a:defRPr>
            </a:pPr>
            <a:r>
              <a:t>LOANWISER  •  REVIEW 2: IMPLEMENTATION &amp; RESULTS</a:t>
            </a:r>
          </a:p>
        </p:txBody>
      </p:sp>
      <p:sp>
        <p:nvSpPr>
          <p:cNvPr id="4" name="TextBox 3"/>
          <p:cNvSpPr txBox="1"/>
          <p:nvPr/>
        </p:nvSpPr>
        <p:spPr>
          <a:xfrm>
            <a:off x="731520" y="594360"/>
            <a:ext cx="10698480" cy="502920"/>
          </a:xfrm>
          <a:prstGeom prst="rect">
            <a:avLst/>
          </a:prstGeom>
          <a:noFill/>
        </p:spPr>
        <p:txBody>
          <a:bodyPr wrap="square" lIns="0" tIns="0" rIns="0" bIns="0">
            <a:spAutoFit/>
          </a:bodyPr>
          <a:lstStyle/>
          <a:p>
            <a:pPr>
              <a:defRPr sz="2100" b="1">
                <a:solidFill>
                  <a:srgbClr val="FFFFFF"/>
                </a:solidFill>
                <a:latin typeface="Segoe UI"/>
              </a:defRPr>
            </a:pPr>
            <a:r>
              <a:t>Working Application Demonstration Workflow</a:t>
            </a:r>
          </a:p>
        </p:txBody>
      </p:sp>
      <p:sp>
        <p:nvSpPr>
          <p:cNvPr id="5" name="TextBox 4"/>
          <p:cNvSpPr txBox="1"/>
          <p:nvPr/>
        </p:nvSpPr>
        <p:spPr>
          <a:xfrm>
            <a:off x="731520" y="1078992"/>
            <a:ext cx="10698480" cy="320040"/>
          </a:xfrm>
          <a:prstGeom prst="rect">
            <a:avLst/>
          </a:prstGeom>
          <a:noFill/>
        </p:spPr>
        <p:txBody>
          <a:bodyPr wrap="square" lIns="0" tIns="0" rIns="0" bIns="0">
            <a:spAutoFit/>
          </a:bodyPr>
          <a:lstStyle/>
          <a:p>
            <a:pPr>
              <a:defRPr sz="1100">
                <a:solidFill>
                  <a:srgbClr val="94A3B8"/>
                </a:solidFill>
                <a:latin typeface="Segoe UI"/>
              </a:defRPr>
            </a:pPr>
            <a:r>
              <a:t>Authentic Three-Step User Journey Captured from Live R Shiny Dashboard Execution</a:t>
            </a:r>
          </a:p>
        </p:txBody>
      </p:sp>
      <p:sp>
        <p:nvSpPr>
          <p:cNvPr id="6" name="TextBox 5"/>
          <p:cNvSpPr txBox="1"/>
          <p:nvPr/>
        </p:nvSpPr>
        <p:spPr>
          <a:xfrm>
            <a:off x="731520" y="6492240"/>
            <a:ext cx="9144000" cy="274320"/>
          </a:xfrm>
          <a:prstGeom prst="rect">
            <a:avLst/>
          </a:prstGeom>
          <a:noFill/>
        </p:spPr>
        <p:txBody>
          <a:bodyPr wrap="none" lIns="0" tIns="0" rIns="0" bIns="0">
            <a:spAutoFit/>
          </a:bodyPr>
          <a:lstStyle/>
          <a:p>
            <a:pPr>
              <a:defRPr sz="900">
                <a:solidFill>
                  <a:srgbClr val="94A3B8"/>
                </a:solidFill>
                <a:latin typeface="Segoe UI"/>
              </a:defRPr>
            </a:pPr>
            <a:r>
              <a:t>LOANWISER  |  Review 2: Implementation &amp; Results  |  S. Karpagam (24BDS1210) &amp; Shruti Chaturvedi (24BDS1003)</a:t>
            </a:r>
          </a:p>
        </p:txBody>
      </p:sp>
      <p:sp>
        <p:nvSpPr>
          <p:cNvPr id="7" name="TextBox 6"/>
          <p:cNvSpPr txBox="1"/>
          <p:nvPr/>
        </p:nvSpPr>
        <p:spPr>
          <a:xfrm>
            <a:off x="10515600" y="6492240"/>
            <a:ext cx="914400" cy="274320"/>
          </a:xfrm>
          <a:prstGeom prst="rect">
            <a:avLst/>
          </a:prstGeom>
          <a:noFill/>
        </p:spPr>
        <p:txBody>
          <a:bodyPr wrap="none" lIns="0" tIns="0" rIns="0" bIns="0">
            <a:spAutoFit/>
          </a:bodyPr>
          <a:lstStyle/>
          <a:p>
            <a:pPr algn="r">
              <a:defRPr sz="900" b="1">
                <a:solidFill>
                  <a:srgbClr val="38BDF8"/>
                </a:solidFill>
                <a:latin typeface="Segoe UI"/>
              </a:defRPr>
            </a:pPr>
            <a:r>
              <a:t>10 / 15</a:t>
            </a:r>
          </a:p>
        </p:txBody>
      </p:sp>
      <p:sp>
        <p:nvSpPr>
          <p:cNvPr id="8" name="Rounded Rectangle 7"/>
          <p:cNvSpPr/>
          <p:nvPr/>
        </p:nvSpPr>
        <p:spPr>
          <a:xfrm>
            <a:off x="731520" y="1508760"/>
            <a:ext cx="3447288" cy="470916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00200"/>
            <a:ext cx="3172968" cy="548640"/>
          </a:xfrm>
          <a:prstGeom prst="rect">
            <a:avLst/>
          </a:prstGeom>
          <a:noFill/>
        </p:spPr>
        <p:txBody>
          <a:bodyPr wrap="square">
            <a:spAutoFit/>
          </a:bodyPr>
          <a:lstStyle/>
          <a:p>
            <a:pPr>
              <a:defRPr sz="950" b="1">
                <a:solidFill>
                  <a:srgbClr val="38BDF8"/>
                </a:solidFill>
                <a:latin typeface="Segoe UI"/>
              </a:defRPr>
            </a:pPr>
            <a:r>
              <a:t>STEP 1: PROFILE INGESTION</a:t>
            </a:r>
          </a:p>
          <a:p>
            <a:pPr>
              <a:spcBef>
                <a:spcPts val="200"/>
              </a:spcBef>
              <a:defRPr sz="1300" b="1">
                <a:solidFill>
                  <a:srgbClr val="FFFFFF"/>
                </a:solidFill>
                <a:latin typeface="Segoe UI"/>
              </a:defRPr>
            </a:pPr>
            <a:r>
              <a:t>Applicant Profiling &amp; Assets</a:t>
            </a:r>
          </a:p>
        </p:txBody>
      </p:sp>
      <p:pic>
        <p:nvPicPr>
          <p:cNvPr id="10" name="Picture 9" descr="02_applicant_profile.png"/>
          <p:cNvPicPr>
            <a:picLocks noChangeAspect="1"/>
          </p:cNvPicPr>
          <p:nvPr/>
        </p:nvPicPr>
        <p:blipFill>
          <a:blip r:embed="rId2"/>
          <a:stretch>
            <a:fillRect/>
          </a:stretch>
        </p:blipFill>
        <p:spPr>
          <a:xfrm>
            <a:off x="868680" y="2240280"/>
            <a:ext cx="3172968" cy="2331720"/>
          </a:xfrm>
          <a:prstGeom prst="rect">
            <a:avLst/>
          </a:prstGeom>
        </p:spPr>
      </p:pic>
      <p:sp>
        <p:nvSpPr>
          <p:cNvPr id="11" name="Rectangle 10"/>
          <p:cNvSpPr/>
          <p:nvPr/>
        </p:nvSpPr>
        <p:spPr>
          <a:xfrm>
            <a:off x="868680" y="2240280"/>
            <a:ext cx="3172968" cy="2331720"/>
          </a:xfrm>
          <a:prstGeom prst="rect">
            <a:avLst/>
          </a:prstGeom>
          <a:no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663440"/>
            <a:ext cx="3172968" cy="1371600"/>
          </a:xfrm>
          <a:prstGeom prst="rect">
            <a:avLst/>
          </a:prstGeom>
          <a:noFill/>
        </p:spPr>
        <p:txBody>
          <a:bodyPr wrap="square">
            <a:spAutoFit/>
          </a:bodyPr>
          <a:lstStyle/>
          <a:p>
            <a:pPr>
              <a:defRPr sz="900">
                <a:solidFill>
                  <a:srgbClr val="CBD5E1"/>
                </a:solidFill>
                <a:latin typeface="Segoe UI"/>
              </a:defRPr>
            </a:pPr>
            <a:r>
              <a:t>User selects education level, employment status (salaried vs self-employed), dependents, and inputs annual income, CIBIL score, and 4 asset classes. Total portfolio is computed automatically.</a:t>
            </a:r>
          </a:p>
        </p:txBody>
      </p:sp>
      <p:sp>
        <p:nvSpPr>
          <p:cNvPr id="13" name="Rounded Rectangle 12"/>
          <p:cNvSpPr/>
          <p:nvPr/>
        </p:nvSpPr>
        <p:spPr>
          <a:xfrm>
            <a:off x="4361688" y="1508760"/>
            <a:ext cx="3447288" cy="470916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1600200"/>
            <a:ext cx="3172968" cy="548640"/>
          </a:xfrm>
          <a:prstGeom prst="rect">
            <a:avLst/>
          </a:prstGeom>
          <a:noFill/>
        </p:spPr>
        <p:txBody>
          <a:bodyPr wrap="square">
            <a:spAutoFit/>
          </a:bodyPr>
          <a:lstStyle/>
          <a:p>
            <a:pPr>
              <a:defRPr sz="950" b="1">
                <a:solidFill>
                  <a:srgbClr val="38BDF8"/>
                </a:solidFill>
                <a:latin typeface="Segoe UI"/>
              </a:defRPr>
            </a:pPr>
            <a:r>
              <a:t>STEP 2: LOAN CONFIGURATION</a:t>
            </a:r>
          </a:p>
          <a:p>
            <a:pPr>
              <a:spcBef>
                <a:spcPts val="200"/>
              </a:spcBef>
              <a:defRPr sz="1300" b="1">
                <a:solidFill>
                  <a:srgbClr val="FFFFFF"/>
                </a:solidFill>
                <a:latin typeface="Segoe UI"/>
              </a:defRPr>
            </a:pPr>
            <a:r>
              <a:t>Loan Parameters &amp; Solvency</a:t>
            </a:r>
          </a:p>
        </p:txBody>
      </p:sp>
      <p:pic>
        <p:nvPicPr>
          <p:cNvPr id="15" name="Picture 14" descr="03_loan_analysis.png"/>
          <p:cNvPicPr>
            <a:picLocks noChangeAspect="1"/>
          </p:cNvPicPr>
          <p:nvPr/>
        </p:nvPicPr>
        <p:blipFill>
          <a:blip r:embed="rId3"/>
          <a:stretch>
            <a:fillRect/>
          </a:stretch>
        </p:blipFill>
        <p:spPr>
          <a:xfrm>
            <a:off x="4498848" y="2240280"/>
            <a:ext cx="3172968" cy="2331720"/>
          </a:xfrm>
          <a:prstGeom prst="rect">
            <a:avLst/>
          </a:prstGeom>
        </p:spPr>
      </p:pic>
      <p:sp>
        <p:nvSpPr>
          <p:cNvPr id="16" name="Rectangle 15"/>
          <p:cNvSpPr/>
          <p:nvPr/>
        </p:nvSpPr>
        <p:spPr>
          <a:xfrm>
            <a:off x="4498848" y="2240280"/>
            <a:ext cx="3172968" cy="2331720"/>
          </a:xfrm>
          <a:prstGeom prst="rect">
            <a:avLst/>
          </a:prstGeom>
          <a:no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98848" y="4663440"/>
            <a:ext cx="3172968" cy="1371600"/>
          </a:xfrm>
          <a:prstGeom prst="rect">
            <a:avLst/>
          </a:prstGeom>
          <a:noFill/>
        </p:spPr>
        <p:txBody>
          <a:bodyPr wrap="square">
            <a:spAutoFit/>
          </a:bodyPr>
          <a:lstStyle/>
          <a:p>
            <a:pPr>
              <a:defRPr sz="900">
                <a:solidFill>
                  <a:srgbClr val="CBD5E1"/>
                </a:solidFill>
                <a:latin typeface="Segoe UI"/>
              </a:defRPr>
            </a:pPr>
            <a:r>
              <a:t>User inputs loan quantum (Rs 2.5M), tenure (15y), interest rate (8.5%), and purpose. System instantaneously computes monthly EMI (Rs 24,622), total interest, and DTI ratio (8.16%).</a:t>
            </a:r>
          </a:p>
        </p:txBody>
      </p:sp>
      <p:sp>
        <p:nvSpPr>
          <p:cNvPr id="18" name="Rounded Rectangle 17"/>
          <p:cNvSpPr/>
          <p:nvPr/>
        </p:nvSpPr>
        <p:spPr>
          <a:xfrm>
            <a:off x="7991856" y="1508760"/>
            <a:ext cx="3447288" cy="470916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9016" y="1600200"/>
            <a:ext cx="3172968" cy="548640"/>
          </a:xfrm>
          <a:prstGeom prst="rect">
            <a:avLst/>
          </a:prstGeom>
          <a:noFill/>
        </p:spPr>
        <p:txBody>
          <a:bodyPr wrap="square">
            <a:spAutoFit/>
          </a:bodyPr>
          <a:lstStyle/>
          <a:p>
            <a:pPr>
              <a:defRPr sz="950" b="1">
                <a:solidFill>
                  <a:srgbClr val="38BDF8"/>
                </a:solidFill>
                <a:latin typeface="Segoe UI"/>
              </a:defRPr>
            </a:pPr>
            <a:r>
              <a:t>STEP 3: DECISION &amp; RISK</a:t>
            </a:r>
          </a:p>
          <a:p>
            <a:pPr>
              <a:spcBef>
                <a:spcPts val="200"/>
              </a:spcBef>
              <a:defRPr sz="1300" b="1">
                <a:solidFill>
                  <a:srgbClr val="FFFFFF"/>
                </a:solidFill>
                <a:latin typeface="Segoe UI"/>
              </a:defRPr>
            </a:pPr>
            <a:r>
              <a:t>ML Decision &amp; Risk Engine</a:t>
            </a:r>
          </a:p>
        </p:txBody>
      </p:sp>
      <p:pic>
        <p:nvPicPr>
          <p:cNvPr id="20" name="Picture 19" descr="05_ml_prediction.png"/>
          <p:cNvPicPr>
            <a:picLocks noChangeAspect="1"/>
          </p:cNvPicPr>
          <p:nvPr/>
        </p:nvPicPr>
        <p:blipFill>
          <a:blip r:embed="rId4"/>
          <a:stretch>
            <a:fillRect/>
          </a:stretch>
        </p:blipFill>
        <p:spPr>
          <a:xfrm>
            <a:off x="8129016" y="2240280"/>
            <a:ext cx="3172968" cy="2331720"/>
          </a:xfrm>
          <a:prstGeom prst="rect">
            <a:avLst/>
          </a:prstGeom>
        </p:spPr>
      </p:pic>
      <p:sp>
        <p:nvSpPr>
          <p:cNvPr id="21" name="Rectangle 20"/>
          <p:cNvSpPr/>
          <p:nvPr/>
        </p:nvSpPr>
        <p:spPr>
          <a:xfrm>
            <a:off x="8129016" y="2240280"/>
            <a:ext cx="3172968" cy="2331720"/>
          </a:xfrm>
          <a:prstGeom prst="rect">
            <a:avLst/>
          </a:prstGeom>
          <a:no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29016" y="4663440"/>
            <a:ext cx="3172968" cy="1371600"/>
          </a:xfrm>
          <a:prstGeom prst="rect">
            <a:avLst/>
          </a:prstGeom>
          <a:noFill/>
        </p:spPr>
        <p:txBody>
          <a:bodyPr wrap="square">
            <a:spAutoFit/>
          </a:bodyPr>
          <a:lstStyle/>
          <a:p>
            <a:pPr>
              <a:defRPr sz="900">
                <a:solidFill>
                  <a:srgbClr val="CBD5E1"/>
                </a:solidFill>
                <a:latin typeface="Segoe UI"/>
              </a:defRPr>
            </a:pPr>
            <a:r>
              <a:t>System runs model inference across LR, RF, and XGBoost. Displays 99.8% approval probability, Low Risk score (18.4/100), explainable strengths, and formal 'ELIGIBLE' institutional decision.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Segoe UI"/>
              </a:defRPr>
            </a:pPr>
            <a:r>
              <a:t>LOANWISER  •  REVIEW 2: IMPLEMENTATION &amp; RESULTS</a:t>
            </a:r>
          </a:p>
        </p:txBody>
      </p:sp>
      <p:sp>
        <p:nvSpPr>
          <p:cNvPr id="4" name="TextBox 3"/>
          <p:cNvSpPr txBox="1"/>
          <p:nvPr/>
        </p:nvSpPr>
        <p:spPr>
          <a:xfrm>
            <a:off x="731520" y="594360"/>
            <a:ext cx="10698480" cy="502920"/>
          </a:xfrm>
          <a:prstGeom prst="rect">
            <a:avLst/>
          </a:prstGeom>
          <a:noFill/>
        </p:spPr>
        <p:txBody>
          <a:bodyPr wrap="square" lIns="0" tIns="0" rIns="0" bIns="0">
            <a:spAutoFit/>
          </a:bodyPr>
          <a:lstStyle/>
          <a:p>
            <a:pPr>
              <a:defRPr sz="2100" b="1">
                <a:solidFill>
                  <a:srgbClr val="FFFFFF"/>
                </a:solidFill>
                <a:latin typeface="Segoe UI"/>
              </a:defRPr>
            </a:pPr>
            <a:r>
              <a:t>Prediction Results, Risk Engine &amp; What-If Simulation</a:t>
            </a:r>
          </a:p>
        </p:txBody>
      </p:sp>
      <p:sp>
        <p:nvSpPr>
          <p:cNvPr id="5" name="TextBox 4"/>
          <p:cNvSpPr txBox="1"/>
          <p:nvPr/>
        </p:nvSpPr>
        <p:spPr>
          <a:xfrm>
            <a:off x="731520" y="1078992"/>
            <a:ext cx="10698480" cy="320040"/>
          </a:xfrm>
          <a:prstGeom prst="rect">
            <a:avLst/>
          </a:prstGeom>
          <a:noFill/>
        </p:spPr>
        <p:txBody>
          <a:bodyPr wrap="square" lIns="0" tIns="0" rIns="0" bIns="0">
            <a:spAutoFit/>
          </a:bodyPr>
          <a:lstStyle/>
          <a:p>
            <a:pPr>
              <a:defRPr sz="1100">
                <a:solidFill>
                  <a:srgbClr val="94A3B8"/>
                </a:solidFill>
                <a:latin typeface="Segoe UI"/>
              </a:defRPr>
            </a:pPr>
            <a:r>
              <a:t>Explainable Multi-Factor Risk Scoring and Real-Time Counterfactual Sensitivity Shifts</a:t>
            </a:r>
          </a:p>
        </p:txBody>
      </p:sp>
      <p:sp>
        <p:nvSpPr>
          <p:cNvPr id="6" name="TextBox 5"/>
          <p:cNvSpPr txBox="1"/>
          <p:nvPr/>
        </p:nvSpPr>
        <p:spPr>
          <a:xfrm>
            <a:off x="731520" y="6492240"/>
            <a:ext cx="9144000" cy="274320"/>
          </a:xfrm>
          <a:prstGeom prst="rect">
            <a:avLst/>
          </a:prstGeom>
          <a:noFill/>
        </p:spPr>
        <p:txBody>
          <a:bodyPr wrap="none" lIns="0" tIns="0" rIns="0" bIns="0">
            <a:spAutoFit/>
          </a:bodyPr>
          <a:lstStyle/>
          <a:p>
            <a:pPr>
              <a:defRPr sz="900">
                <a:solidFill>
                  <a:srgbClr val="94A3B8"/>
                </a:solidFill>
                <a:latin typeface="Segoe UI"/>
              </a:defRPr>
            </a:pPr>
            <a:r>
              <a:t>LOANWISER  |  Review 2: Implementation &amp; Results  |  S. Karpagam (24BDS1210) &amp; Shruti Chaturvedi (24BDS1003)</a:t>
            </a:r>
          </a:p>
        </p:txBody>
      </p:sp>
      <p:sp>
        <p:nvSpPr>
          <p:cNvPr id="7" name="TextBox 6"/>
          <p:cNvSpPr txBox="1"/>
          <p:nvPr/>
        </p:nvSpPr>
        <p:spPr>
          <a:xfrm>
            <a:off x="10515600" y="6492240"/>
            <a:ext cx="914400" cy="274320"/>
          </a:xfrm>
          <a:prstGeom prst="rect">
            <a:avLst/>
          </a:prstGeom>
          <a:noFill/>
        </p:spPr>
        <p:txBody>
          <a:bodyPr wrap="none" lIns="0" tIns="0" rIns="0" bIns="0">
            <a:spAutoFit/>
          </a:bodyPr>
          <a:lstStyle/>
          <a:p>
            <a:pPr algn="r">
              <a:defRPr sz="900" b="1">
                <a:solidFill>
                  <a:srgbClr val="38BDF8"/>
                </a:solidFill>
                <a:latin typeface="Segoe UI"/>
              </a:defRPr>
            </a:pPr>
            <a:r>
              <a:t>11 / 15</a:t>
            </a:r>
          </a:p>
        </p:txBody>
      </p:sp>
      <p:sp>
        <p:nvSpPr>
          <p:cNvPr id="8" name="Rounded Rectangle 7"/>
          <p:cNvSpPr/>
          <p:nvPr/>
        </p:nvSpPr>
        <p:spPr>
          <a:xfrm>
            <a:off x="731520" y="1508760"/>
            <a:ext cx="5212080" cy="470916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4846320" cy="4389120"/>
          </a:xfrm>
          <a:prstGeom prst="rect">
            <a:avLst/>
          </a:prstGeom>
          <a:noFill/>
        </p:spPr>
        <p:txBody>
          <a:bodyPr wrap="square">
            <a:spAutoFit/>
          </a:bodyPr>
          <a:lstStyle/>
          <a:p>
            <a:pPr>
              <a:defRPr sz="1100" b="1">
                <a:solidFill>
                  <a:srgbClr val="38BDF8"/>
                </a:solidFill>
                <a:latin typeface="Segoe UI"/>
              </a:defRPr>
            </a:pPr>
            <a:r>
              <a:t>MULTI-FACTOR RISK ENGINE (R/risk_engine.R)</a:t>
            </a:r>
          </a:p>
          <a:p>
            <a:pPr>
              <a:spcBef>
                <a:spcPts val="400"/>
              </a:spcBef>
              <a:defRPr sz="850">
                <a:solidFill>
                  <a:srgbClr val="FFFFFF"/>
                </a:solidFill>
                <a:latin typeface="Consolas"/>
              </a:defRPr>
            </a:pPr>
            <a:r>
              <a:t>Weighted Composite Risk Formula (0 to 100):</a:t>
            </a:r>
            <a:br/>
            <a:r>
              <a:t>Risk Score = 0.40 x ML_Risk + 0.25 x Credit_Risk + 0.20 x DTI_Burden + 0.10 x LTV_Risk + 0.05 x Buffer_Risk</a:t>
            </a:r>
          </a:p>
          <a:p>
            <a:pPr>
              <a:spcBef>
                <a:spcPts val="400"/>
              </a:spcBef>
              <a:defRPr sz="950" b="1">
                <a:solidFill>
                  <a:srgbClr val="38BDF8"/>
                </a:solidFill>
                <a:latin typeface="Segoe UI"/>
              </a:defRPr>
            </a:pPr>
            <a:r>
              <a:t>• Low Risk (Score &lt; 35): </a:t>
            </a:r>
            <a:r>
              <a:rPr b="0">
                <a:solidFill>
                  <a:srgbClr val="CBD5E1"/>
                </a:solidFill>
              </a:rPr>
              <a:t>Prime credit profile, high approval probability, minimal default risk.</a:t>
            </a:r>
          </a:p>
          <a:p>
            <a:pPr>
              <a:spcBef>
                <a:spcPts val="400"/>
              </a:spcBef>
              <a:defRPr sz="950" b="1">
                <a:solidFill>
                  <a:srgbClr val="38BDF8"/>
                </a:solidFill>
                <a:latin typeface="Segoe UI"/>
              </a:defRPr>
            </a:pPr>
            <a:r>
              <a:t>• Medium Risk (35 &lt;= Score &lt;= 65): </a:t>
            </a:r>
            <a:r>
              <a:rPr b="0">
                <a:solidFill>
                  <a:srgbClr val="CBD5E1"/>
                </a:solidFill>
              </a:rPr>
              <a:t>Borderline leverage or credit score; requires manual review.</a:t>
            </a:r>
          </a:p>
          <a:p>
            <a:pPr>
              <a:spcBef>
                <a:spcPts val="400"/>
              </a:spcBef>
              <a:defRPr sz="950" b="1">
                <a:solidFill>
                  <a:srgbClr val="38BDF8"/>
                </a:solidFill>
                <a:latin typeface="Segoe UI"/>
              </a:defRPr>
            </a:pPr>
            <a:r>
              <a:t>• High Risk (Score &gt; 65): </a:t>
            </a:r>
            <a:r>
              <a:rPr b="0">
                <a:solidFill>
                  <a:srgbClr val="CBD5E1"/>
                </a:solidFill>
              </a:rPr>
              <a:t>Severe default exposure, high DTI, or subprime CIBIL history.</a:t>
            </a:r>
          </a:p>
          <a:p>
            <a:pPr>
              <a:spcBef>
                <a:spcPts val="1000"/>
              </a:spcBef>
              <a:defRPr sz="1100" b="1">
                <a:solidFill>
                  <a:srgbClr val="38BDF8"/>
                </a:solidFill>
                <a:latin typeface="Segoe UI"/>
              </a:defRPr>
            </a:pPr>
            <a:r>
              <a:t>EXPLAINABLE CREDIT FACTORS GENERATED</a:t>
            </a:r>
          </a:p>
          <a:p>
            <a:pPr>
              <a:spcBef>
                <a:spcPts val="300"/>
              </a:spcBef>
              <a:defRPr sz="950" b="1">
                <a:solidFill>
                  <a:srgbClr val="10B981"/>
                </a:solidFill>
                <a:latin typeface="Segoe UI"/>
              </a:defRPr>
            </a:pPr>
            <a:r>
              <a:t>✓ Positive Credit Strengths: </a:t>
            </a:r>
            <a:r>
              <a:rPr b="0">
                <a:solidFill>
                  <a:srgbClr val="CBD5E1"/>
                </a:solidFill>
              </a:rPr>
              <a:t>Identifies excellent CIBIL score (750+), low DTI (&lt;10%), healthy asset coverage (2.8x), and strong cashflow buffer (&gt;12x).</a:t>
            </a:r>
          </a:p>
          <a:p>
            <a:pPr>
              <a:spcBef>
                <a:spcPts val="300"/>
              </a:spcBef>
              <a:defRPr sz="950" b="1">
                <a:solidFill>
                  <a:srgbClr val="EF4444"/>
                </a:solidFill>
                <a:latin typeface="Segoe UI"/>
              </a:defRPr>
            </a:pPr>
            <a:r>
              <a:t>✓ Negative Vulnerability Alerts: </a:t>
            </a:r>
            <a:r>
              <a:rPr b="0">
                <a:solidFill>
                  <a:srgbClr val="CBD5E1"/>
                </a:solidFill>
              </a:rPr>
              <a:t>Flags elevated DTI (&gt;50%), high LTV (&gt;80%), negative disposable income, or subprime credit history (&lt;620).</a:t>
            </a:r>
          </a:p>
          <a:p>
            <a:pPr>
              <a:spcBef>
                <a:spcPts val="300"/>
              </a:spcBef>
              <a:defRPr sz="950" b="1">
                <a:solidFill>
                  <a:srgbClr val="F59E0B"/>
                </a:solidFill>
                <a:latin typeface="Segoe UI"/>
              </a:defRPr>
            </a:pPr>
            <a:r>
              <a:t>✓ Actionable Advisory: </a:t>
            </a:r>
            <a:r>
              <a:rPr b="0">
                <a:solidFill>
                  <a:srgbClr val="CBD5E1"/>
                </a:solidFill>
              </a:rPr>
              <a:t>Recommends extending tenure, increasing down payment, or pledging additional collateral to achieve approval.</a:t>
            </a:r>
          </a:p>
        </p:txBody>
      </p:sp>
      <p:sp>
        <p:nvSpPr>
          <p:cNvPr id="10" name="Rounded Rectangle 9"/>
          <p:cNvSpPr/>
          <p:nvPr/>
        </p:nvSpPr>
        <p:spPr>
          <a:xfrm>
            <a:off x="6217920" y="1508760"/>
            <a:ext cx="5242255" cy="470916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6_whatif_simulation.png"/>
          <p:cNvPicPr>
            <a:picLocks noChangeAspect="1"/>
          </p:cNvPicPr>
          <p:nvPr/>
        </p:nvPicPr>
        <p:blipFill>
          <a:blip r:embed="rId2"/>
          <a:stretch>
            <a:fillRect/>
          </a:stretch>
        </p:blipFill>
        <p:spPr>
          <a:xfrm>
            <a:off x="6355080" y="1645920"/>
            <a:ext cx="4967935" cy="2468880"/>
          </a:xfrm>
          <a:prstGeom prst="rect">
            <a:avLst/>
          </a:prstGeom>
        </p:spPr>
      </p:pic>
      <p:sp>
        <p:nvSpPr>
          <p:cNvPr id="12" name="Rectangle 11"/>
          <p:cNvSpPr/>
          <p:nvPr/>
        </p:nvSpPr>
        <p:spPr>
          <a:xfrm>
            <a:off x="6355080" y="1645920"/>
            <a:ext cx="4967935" cy="2468880"/>
          </a:xfrm>
          <a:prstGeom prst="rect">
            <a:avLst/>
          </a:prstGeom>
          <a:no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4206240"/>
            <a:ext cx="4967935" cy="1920240"/>
          </a:xfrm>
          <a:prstGeom prst="rect">
            <a:avLst/>
          </a:prstGeom>
          <a:noFill/>
        </p:spPr>
        <p:txBody>
          <a:bodyPr wrap="square">
            <a:spAutoFit/>
          </a:bodyPr>
          <a:lstStyle/>
          <a:p>
            <a:pPr>
              <a:defRPr sz="1100" b="1">
                <a:solidFill>
                  <a:srgbClr val="38BDF8"/>
                </a:solidFill>
                <a:latin typeface="Segoe UI"/>
              </a:defRPr>
            </a:pPr>
            <a:r>
              <a:t>REAL-TIME WHAT-IF SENSITIVITY STRESS TESTING</a:t>
            </a:r>
          </a:p>
          <a:p>
            <a:pPr>
              <a:spcBef>
                <a:spcPts val="200"/>
              </a:spcBef>
              <a:defRPr sz="900">
                <a:solidFill>
                  <a:srgbClr val="CBD5E1"/>
                </a:solidFill>
                <a:latin typeface="Segoe UI"/>
              </a:defRPr>
            </a:pPr>
            <a:r>
              <a:t>• Side-by-Side Comparison: Current baseline vs. simulated scenario rendered concurrently.</a:t>
            </a:r>
          </a:p>
          <a:p>
            <a:pPr>
              <a:spcBef>
                <a:spcPts val="200"/>
              </a:spcBef>
              <a:defRPr sz="900">
                <a:solidFill>
                  <a:srgbClr val="CBD5E1"/>
                </a:solidFill>
                <a:latin typeface="Segoe UI"/>
              </a:defRPr>
            </a:pPr>
            <a:r>
              <a:t>• Interactive Sliders: Loan Amount (Rs 100k - 15M), Tenure (1 - 30y), Interest Rate (5 - 20%), Income &amp; Existing Debt.</a:t>
            </a:r>
          </a:p>
          <a:p>
            <a:pPr>
              <a:spcBef>
                <a:spcPts val="200"/>
              </a:spcBef>
              <a:defRPr sz="900">
                <a:solidFill>
                  <a:srgbClr val="CBD5E1"/>
                </a:solidFill>
                <a:latin typeface="Segoe UI"/>
              </a:defRPr>
            </a:pPr>
            <a:r>
              <a:t>• Counterfactual Stress Shift Demonstrated:</a:t>
            </a:r>
          </a:p>
          <a:p>
            <a:pPr>
              <a:spcBef>
                <a:spcPts val="200"/>
              </a:spcBef>
              <a:defRPr sz="900">
                <a:solidFill>
                  <a:srgbClr val="CBD5E1"/>
                </a:solidFill>
                <a:latin typeface="Segoe UI"/>
              </a:defRPr>
            </a:pPr>
            <a:r>
              <a:t>•   - Baseline: Rs 2.5M Loan @ 8.5% (15y) -&gt; EMI: Rs 24,622 | DTI: 8.2% | Prob: 99.8%</a:t>
            </a:r>
          </a:p>
          <a:p>
            <a:pPr>
              <a:spcBef>
                <a:spcPts val="200"/>
              </a:spcBef>
              <a:defRPr sz="900">
                <a:solidFill>
                  <a:srgbClr val="CBD5E1"/>
                </a:solidFill>
                <a:latin typeface="Segoe UI"/>
              </a:defRPr>
            </a:pPr>
            <a:r>
              <a:t>•   - Stressed: Rs 6.0M Loan @ 12.0% (8y) -&gt; EMI: Rs 98,400 | DTI: 26.5% | Shift: Low -&gt; Med</a:t>
            </a:r>
          </a:p>
          <a:p>
            <a:pPr>
              <a:spcBef>
                <a:spcPts val="200"/>
              </a:spcBef>
              <a:defRPr sz="900">
                <a:solidFill>
                  <a:srgbClr val="CBD5E1"/>
                </a:solidFill>
                <a:latin typeface="Segoe UI"/>
              </a:defRPr>
            </a:pPr>
            <a:r>
              <a:t>• Provides instant feedback to applicants on how altering tenure or loan amount restores solvency.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Segoe UI"/>
              </a:defRPr>
            </a:pPr>
            <a:r>
              <a:t>LOANWISER  •  REVIEW 2: IMPLEMENTATION &amp; RESULTS</a:t>
            </a:r>
          </a:p>
        </p:txBody>
      </p:sp>
      <p:sp>
        <p:nvSpPr>
          <p:cNvPr id="4" name="TextBox 3"/>
          <p:cNvSpPr txBox="1"/>
          <p:nvPr/>
        </p:nvSpPr>
        <p:spPr>
          <a:xfrm>
            <a:off x="731520" y="594360"/>
            <a:ext cx="10698480" cy="502920"/>
          </a:xfrm>
          <a:prstGeom prst="rect">
            <a:avLst/>
          </a:prstGeom>
          <a:noFill/>
        </p:spPr>
        <p:txBody>
          <a:bodyPr wrap="square" lIns="0" tIns="0" rIns="0" bIns="0">
            <a:spAutoFit/>
          </a:bodyPr>
          <a:lstStyle/>
          <a:p>
            <a:pPr>
              <a:defRPr sz="2100" b="1">
                <a:solidFill>
                  <a:srgbClr val="FFFFFF"/>
                </a:solidFill>
                <a:latin typeface="Segoe UI"/>
              </a:defRPr>
            </a:pPr>
            <a:r>
              <a:t>Testing, Verification &amp; Quality Assurance</a:t>
            </a:r>
          </a:p>
        </p:txBody>
      </p:sp>
      <p:sp>
        <p:nvSpPr>
          <p:cNvPr id="5" name="TextBox 4"/>
          <p:cNvSpPr txBox="1"/>
          <p:nvPr/>
        </p:nvSpPr>
        <p:spPr>
          <a:xfrm>
            <a:off x="731520" y="1078992"/>
            <a:ext cx="10698480" cy="320040"/>
          </a:xfrm>
          <a:prstGeom prst="rect">
            <a:avLst/>
          </a:prstGeom>
          <a:noFill/>
        </p:spPr>
        <p:txBody>
          <a:bodyPr wrap="square" lIns="0" tIns="0" rIns="0" bIns="0">
            <a:spAutoFit/>
          </a:bodyPr>
          <a:lstStyle/>
          <a:p>
            <a:pPr>
              <a:defRPr sz="1100">
                <a:solidFill>
                  <a:srgbClr val="94A3B8"/>
                </a:solidFill>
                <a:latin typeface="Segoe UI"/>
              </a:defRPr>
            </a:pPr>
            <a:r>
              <a:t>Automated Verification Suite with 43/43 Passing Unit Tests Across Four Critical Domains</a:t>
            </a:r>
          </a:p>
        </p:txBody>
      </p:sp>
      <p:sp>
        <p:nvSpPr>
          <p:cNvPr id="6" name="TextBox 5"/>
          <p:cNvSpPr txBox="1"/>
          <p:nvPr/>
        </p:nvSpPr>
        <p:spPr>
          <a:xfrm>
            <a:off x="731520" y="6492240"/>
            <a:ext cx="9144000" cy="274320"/>
          </a:xfrm>
          <a:prstGeom prst="rect">
            <a:avLst/>
          </a:prstGeom>
          <a:noFill/>
        </p:spPr>
        <p:txBody>
          <a:bodyPr wrap="none" lIns="0" tIns="0" rIns="0" bIns="0">
            <a:spAutoFit/>
          </a:bodyPr>
          <a:lstStyle/>
          <a:p>
            <a:pPr>
              <a:defRPr sz="900">
                <a:solidFill>
                  <a:srgbClr val="94A3B8"/>
                </a:solidFill>
                <a:latin typeface="Segoe UI"/>
              </a:defRPr>
            </a:pPr>
            <a:r>
              <a:t>LOANWISER  |  Review 2: Implementation &amp; Results  |  S. Karpagam (24BDS1210) &amp; Shruti Chaturvedi (24BDS1003)</a:t>
            </a:r>
          </a:p>
        </p:txBody>
      </p:sp>
      <p:sp>
        <p:nvSpPr>
          <p:cNvPr id="7" name="TextBox 6"/>
          <p:cNvSpPr txBox="1"/>
          <p:nvPr/>
        </p:nvSpPr>
        <p:spPr>
          <a:xfrm>
            <a:off x="10515600" y="6492240"/>
            <a:ext cx="914400" cy="274320"/>
          </a:xfrm>
          <a:prstGeom prst="rect">
            <a:avLst/>
          </a:prstGeom>
          <a:noFill/>
        </p:spPr>
        <p:txBody>
          <a:bodyPr wrap="none" lIns="0" tIns="0" rIns="0" bIns="0">
            <a:spAutoFit/>
          </a:bodyPr>
          <a:lstStyle/>
          <a:p>
            <a:pPr algn="r">
              <a:defRPr sz="900" b="1">
                <a:solidFill>
                  <a:srgbClr val="38BDF8"/>
                </a:solidFill>
                <a:latin typeface="Segoe UI"/>
              </a:defRPr>
            </a:pPr>
            <a:r>
              <a:t>12 / 15</a:t>
            </a:r>
          </a:p>
        </p:txBody>
      </p:sp>
      <p:sp>
        <p:nvSpPr>
          <p:cNvPr id="8" name="Rounded Rectangle 7"/>
          <p:cNvSpPr/>
          <p:nvPr/>
        </p:nvSpPr>
        <p:spPr>
          <a:xfrm>
            <a:off x="731520" y="1508760"/>
            <a:ext cx="10728655" cy="594360"/>
          </a:xfrm>
          <a:prstGeom prst="roundRect">
            <a:avLst/>
          </a:prstGeom>
          <a:solidFill>
            <a:srgbClr val="102E2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0B981"/>
                </a:solidFill>
                <a:latin typeface="Segoe UI"/>
              </a:defRPr>
            </a:pPr>
            <a:r>
              <a:t>TEST SUITE EXECUTION RESULTS: 43 / 43 TESTS PASSED (100.0% SUCCESS RATE)</a:t>
            </a:r>
          </a:p>
        </p:txBody>
      </p:sp>
      <p:sp>
        <p:nvSpPr>
          <p:cNvPr id="9" name="Rounded Rectangle 8"/>
          <p:cNvSpPr/>
          <p:nvPr/>
        </p:nvSpPr>
        <p:spPr>
          <a:xfrm>
            <a:off x="731520" y="2240280"/>
            <a:ext cx="2542032" cy="3977639"/>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31720"/>
            <a:ext cx="2267712" cy="3794759"/>
          </a:xfrm>
          <a:prstGeom prst="rect">
            <a:avLst/>
          </a:prstGeom>
          <a:noFill/>
        </p:spPr>
        <p:txBody>
          <a:bodyPr wrap="square">
            <a:spAutoFit/>
          </a:bodyPr>
          <a:lstStyle/>
          <a:p>
            <a:pPr>
              <a:defRPr sz="1100" b="1">
                <a:solidFill>
                  <a:srgbClr val="38BDF8"/>
                </a:solidFill>
                <a:latin typeface="Segoe UI"/>
              </a:defRPr>
            </a:pPr>
            <a:r>
              <a:t>Domain 1: Financial Math</a:t>
            </a:r>
          </a:p>
          <a:p>
            <a:pPr>
              <a:defRPr sz="950" b="1">
                <a:solidFill>
                  <a:srgbClr val="10B981"/>
                </a:solidFill>
                <a:latin typeface="Segoe UI"/>
              </a:defRPr>
            </a:pPr>
            <a:r>
              <a:t>11 Unit Tests</a:t>
            </a:r>
          </a:p>
          <a:p>
            <a:pPr>
              <a:spcBef>
                <a:spcPts val="300"/>
              </a:spcBef>
              <a:defRPr sz="850" b="1">
                <a:solidFill>
                  <a:srgbClr val="FFFFFF"/>
                </a:solidFill>
                <a:latin typeface="Segoe UI"/>
              </a:defRPr>
            </a:pPr>
            <a:r>
              <a:t>• Standard EMI Calculation:</a:t>
            </a:r>
          </a:p>
          <a:p>
            <a:pPr>
              <a:defRPr sz="750">
                <a:solidFill>
                  <a:srgbClr val="CBD5E1"/>
                </a:solidFill>
                <a:latin typeface="Consolas"/>
              </a:defRPr>
            </a:pPr>
            <a:r>
              <a:t>  Rs 1M @ 8.5% for 10y = Rs 12,398.57 [PASS]</a:t>
            </a:r>
          </a:p>
          <a:p>
            <a:pPr>
              <a:spcBef>
                <a:spcPts val="300"/>
              </a:spcBef>
              <a:defRPr sz="850" b="1">
                <a:solidFill>
                  <a:srgbClr val="FFFFFF"/>
                </a:solidFill>
                <a:latin typeface="Segoe UI"/>
              </a:defRPr>
            </a:pPr>
            <a:r>
              <a:t>• Zero-Interest Loan:</a:t>
            </a:r>
          </a:p>
          <a:p>
            <a:pPr>
              <a:defRPr sz="750">
                <a:solidFill>
                  <a:srgbClr val="CBD5E1"/>
                </a:solidFill>
                <a:latin typeface="Consolas"/>
              </a:defRPr>
            </a:pPr>
            <a:r>
              <a:t>  Rs 120k @ 0% for 1y = Rs 10,000 [PASS]</a:t>
            </a:r>
          </a:p>
          <a:p>
            <a:pPr>
              <a:spcBef>
                <a:spcPts val="300"/>
              </a:spcBef>
              <a:defRPr sz="850" b="1">
                <a:solidFill>
                  <a:srgbClr val="FFFFFF"/>
                </a:solidFill>
                <a:latin typeface="Segoe UI"/>
              </a:defRPr>
            </a:pPr>
            <a:r>
              <a:t>• Zero Principal Boundary:</a:t>
            </a:r>
          </a:p>
          <a:p>
            <a:pPr>
              <a:defRPr sz="750">
                <a:solidFill>
                  <a:srgbClr val="CBD5E1"/>
                </a:solidFill>
                <a:latin typeface="Consolas"/>
              </a:defRPr>
            </a:pPr>
            <a:r>
              <a:t>  calculate_emi(0, 10, 5) == 0 [PASS]</a:t>
            </a:r>
          </a:p>
          <a:p>
            <a:pPr>
              <a:spcBef>
                <a:spcPts val="300"/>
              </a:spcBef>
              <a:defRPr sz="850" b="1">
                <a:solidFill>
                  <a:srgbClr val="FFFFFF"/>
                </a:solidFill>
                <a:latin typeface="Segoe UI"/>
              </a:defRPr>
            </a:pPr>
            <a:r>
              <a:t>• Negative Principal Edge:</a:t>
            </a:r>
          </a:p>
          <a:p>
            <a:pPr>
              <a:defRPr sz="750">
                <a:solidFill>
                  <a:srgbClr val="CBD5E1"/>
                </a:solidFill>
                <a:latin typeface="Consolas"/>
              </a:defRPr>
            </a:pPr>
            <a:r>
              <a:t>  calculate_emi(-50k, 10, 5) == 0 [PASS]</a:t>
            </a:r>
          </a:p>
          <a:p>
            <a:pPr>
              <a:spcBef>
                <a:spcPts val="300"/>
              </a:spcBef>
              <a:defRPr sz="850" b="1">
                <a:solidFill>
                  <a:srgbClr val="FFFFFF"/>
                </a:solidFill>
                <a:latin typeface="Segoe UI"/>
              </a:defRPr>
            </a:pPr>
            <a:r>
              <a:t>• Zero Tenure Edge:</a:t>
            </a:r>
          </a:p>
          <a:p>
            <a:pPr>
              <a:defRPr sz="750">
                <a:solidFill>
                  <a:srgbClr val="CBD5E1"/>
                </a:solidFill>
                <a:latin typeface="Consolas"/>
              </a:defRPr>
            </a:pPr>
            <a:r>
              <a:t>  calculate_emi(100k, 10, 0) == 0 [PASS]</a:t>
            </a:r>
          </a:p>
          <a:p>
            <a:pPr>
              <a:spcBef>
                <a:spcPts val="300"/>
              </a:spcBef>
              <a:defRPr sz="850" b="1">
                <a:solidFill>
                  <a:srgbClr val="FFFFFF"/>
                </a:solidFill>
                <a:latin typeface="Segoe UI"/>
              </a:defRPr>
            </a:pPr>
            <a:r>
              <a:t>• Amortization Table Rows:</a:t>
            </a:r>
          </a:p>
          <a:p>
            <a:pPr>
              <a:defRPr sz="750">
                <a:solidFill>
                  <a:srgbClr val="CBD5E1"/>
                </a:solidFill>
                <a:latin typeface="Consolas"/>
              </a:defRPr>
            </a:pPr>
            <a:r>
              <a:t>  12-month loan yields 12 rows [PASS]</a:t>
            </a:r>
          </a:p>
          <a:p>
            <a:pPr>
              <a:spcBef>
                <a:spcPts val="300"/>
              </a:spcBef>
              <a:defRPr sz="850" b="1">
                <a:solidFill>
                  <a:srgbClr val="FFFFFF"/>
                </a:solidFill>
                <a:latin typeface="Segoe UI"/>
              </a:defRPr>
            </a:pPr>
            <a:r>
              <a:t>• Balance Termination:</a:t>
            </a:r>
          </a:p>
          <a:p>
            <a:pPr>
              <a:defRPr sz="750">
                <a:solidFill>
                  <a:srgbClr val="CBD5E1"/>
                </a:solidFill>
                <a:latin typeface="Consolas"/>
              </a:defRPr>
            </a:pPr>
            <a:r>
              <a:t>  Ending balance closes at 0.00 [PASS]</a:t>
            </a:r>
          </a:p>
        </p:txBody>
      </p:sp>
      <p:sp>
        <p:nvSpPr>
          <p:cNvPr id="11" name="Rounded Rectangle 10"/>
          <p:cNvSpPr/>
          <p:nvPr/>
        </p:nvSpPr>
        <p:spPr>
          <a:xfrm>
            <a:off x="3456432" y="2240280"/>
            <a:ext cx="2542032" cy="3977639"/>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93592" y="2331720"/>
            <a:ext cx="2267712" cy="3794759"/>
          </a:xfrm>
          <a:prstGeom prst="rect">
            <a:avLst/>
          </a:prstGeom>
          <a:noFill/>
        </p:spPr>
        <p:txBody>
          <a:bodyPr wrap="square">
            <a:spAutoFit/>
          </a:bodyPr>
          <a:lstStyle/>
          <a:p>
            <a:pPr>
              <a:defRPr sz="1100" b="1">
                <a:solidFill>
                  <a:srgbClr val="38BDF8"/>
                </a:solidFill>
                <a:latin typeface="Segoe UI"/>
              </a:defRPr>
            </a:pPr>
            <a:r>
              <a:t>Domain 2: Solvency Ratios</a:t>
            </a:r>
          </a:p>
          <a:p>
            <a:pPr>
              <a:defRPr sz="950" b="1">
                <a:solidFill>
                  <a:srgbClr val="10B981"/>
                </a:solidFill>
                <a:latin typeface="Segoe UI"/>
              </a:defRPr>
            </a:pPr>
            <a:r>
              <a:t>9 Unit Tests</a:t>
            </a:r>
          </a:p>
          <a:p>
            <a:pPr>
              <a:spcBef>
                <a:spcPts val="300"/>
              </a:spcBef>
              <a:defRPr sz="850" b="1">
                <a:solidFill>
                  <a:srgbClr val="FFFFFF"/>
                </a:solidFill>
                <a:latin typeface="Segoe UI"/>
              </a:defRPr>
            </a:pPr>
            <a:r>
              <a:t>• DTI Standard Calculation:</a:t>
            </a:r>
          </a:p>
          <a:p>
            <a:pPr>
              <a:defRPr sz="750">
                <a:solidFill>
                  <a:srgbClr val="CBD5E1"/>
                </a:solidFill>
                <a:latin typeface="Consolas"/>
              </a:defRPr>
            </a:pPr>
            <a:r>
              <a:t>  Rs 25k debt on Rs 50k inc = 50% [PASS]</a:t>
            </a:r>
          </a:p>
          <a:p>
            <a:pPr>
              <a:spcBef>
                <a:spcPts val="300"/>
              </a:spcBef>
              <a:defRPr sz="850" b="1">
                <a:solidFill>
                  <a:srgbClr val="FFFFFF"/>
                </a:solidFill>
                <a:latin typeface="Segoe UI"/>
              </a:defRPr>
            </a:pPr>
            <a:r>
              <a:t>• DTI Zero Income Edge:</a:t>
            </a:r>
          </a:p>
          <a:p>
            <a:pPr>
              <a:defRPr sz="750">
                <a:solidFill>
                  <a:srgbClr val="CBD5E1"/>
                </a:solidFill>
                <a:latin typeface="Consolas"/>
              </a:defRPr>
            </a:pPr>
            <a:r>
              <a:t>  Capped safely at 100.0% [PASS]</a:t>
            </a:r>
          </a:p>
          <a:p>
            <a:pPr>
              <a:spcBef>
                <a:spcPts val="300"/>
              </a:spcBef>
              <a:defRPr sz="850" b="1">
                <a:solidFill>
                  <a:srgbClr val="FFFFFF"/>
                </a:solidFill>
                <a:latin typeface="Segoe UI"/>
              </a:defRPr>
            </a:pPr>
            <a:r>
              <a:t>• DTI Zero Debt Edge:</a:t>
            </a:r>
          </a:p>
          <a:p>
            <a:pPr>
              <a:defRPr sz="750">
                <a:solidFill>
                  <a:srgbClr val="CBD5E1"/>
                </a:solidFill>
                <a:latin typeface="Consolas"/>
              </a:defRPr>
            </a:pPr>
            <a:r>
              <a:t>  Existing debt = 0 yields new EMI [PASS]</a:t>
            </a:r>
          </a:p>
          <a:p>
            <a:pPr>
              <a:spcBef>
                <a:spcPts val="300"/>
              </a:spcBef>
              <a:defRPr sz="850" b="1">
                <a:solidFill>
                  <a:srgbClr val="FFFFFF"/>
                </a:solidFill>
                <a:latin typeface="Segoe UI"/>
              </a:defRPr>
            </a:pPr>
            <a:r>
              <a:t>• LTV Standard Calculation:</a:t>
            </a:r>
          </a:p>
          <a:p>
            <a:pPr>
              <a:defRPr sz="750">
                <a:solidFill>
                  <a:srgbClr val="CBD5E1"/>
                </a:solidFill>
                <a:latin typeface="Consolas"/>
              </a:defRPr>
            </a:pPr>
            <a:r>
              <a:t>  4M loan on 5M collateral = 80% [PASS]</a:t>
            </a:r>
          </a:p>
          <a:p>
            <a:pPr>
              <a:spcBef>
                <a:spcPts val="300"/>
              </a:spcBef>
              <a:defRPr sz="850" b="1">
                <a:solidFill>
                  <a:srgbClr val="FFFFFF"/>
                </a:solidFill>
                <a:latin typeface="Segoe UI"/>
              </a:defRPr>
            </a:pPr>
            <a:r>
              <a:t>• Unsecured LTV Edge:</a:t>
            </a:r>
          </a:p>
          <a:p>
            <a:pPr>
              <a:defRPr sz="750">
                <a:solidFill>
                  <a:srgbClr val="CBD5E1"/>
                </a:solidFill>
                <a:latin typeface="Consolas"/>
              </a:defRPr>
            </a:pPr>
            <a:r>
              <a:t>  Zero collateral yields NA safely [PASS]</a:t>
            </a:r>
          </a:p>
          <a:p>
            <a:pPr>
              <a:spcBef>
                <a:spcPts val="300"/>
              </a:spcBef>
              <a:defRPr sz="850" b="1">
                <a:solidFill>
                  <a:srgbClr val="FFFFFF"/>
                </a:solidFill>
                <a:latin typeface="Segoe UI"/>
              </a:defRPr>
            </a:pPr>
            <a:r>
              <a:t>• Disposable Income:</a:t>
            </a:r>
          </a:p>
          <a:p>
            <a:pPr>
              <a:defRPr sz="750">
                <a:solidFill>
                  <a:srgbClr val="CBD5E1"/>
                </a:solidFill>
                <a:latin typeface="Consolas"/>
              </a:defRPr>
            </a:pPr>
            <a:r>
              <a:t>  80k - 10k - 20k - 25k = 25k [PASS]</a:t>
            </a:r>
          </a:p>
          <a:p>
            <a:pPr>
              <a:spcBef>
                <a:spcPts val="300"/>
              </a:spcBef>
              <a:defRPr sz="850" b="1">
                <a:solidFill>
                  <a:srgbClr val="FFFFFF"/>
                </a:solidFill>
                <a:latin typeface="Segoe UI"/>
              </a:defRPr>
            </a:pPr>
            <a:r>
              <a:t>• Negative Buffer Clamp:</a:t>
            </a:r>
          </a:p>
          <a:p>
            <a:pPr>
              <a:defRPr sz="750">
                <a:solidFill>
                  <a:srgbClr val="CBD5E1"/>
                </a:solidFill>
                <a:latin typeface="Consolas"/>
              </a:defRPr>
            </a:pPr>
            <a:r>
              <a:t>  Deficit cashflow yields 0.0x [PASS]</a:t>
            </a:r>
          </a:p>
        </p:txBody>
      </p:sp>
      <p:sp>
        <p:nvSpPr>
          <p:cNvPr id="13" name="Rounded Rectangle 12"/>
          <p:cNvSpPr/>
          <p:nvPr/>
        </p:nvSpPr>
        <p:spPr>
          <a:xfrm>
            <a:off x="6181344" y="2240280"/>
            <a:ext cx="2542032" cy="3977639"/>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18504" y="2331720"/>
            <a:ext cx="2267712" cy="3794759"/>
          </a:xfrm>
          <a:prstGeom prst="rect">
            <a:avLst/>
          </a:prstGeom>
          <a:noFill/>
        </p:spPr>
        <p:txBody>
          <a:bodyPr wrap="square">
            <a:spAutoFit/>
          </a:bodyPr>
          <a:lstStyle/>
          <a:p>
            <a:pPr>
              <a:defRPr sz="1100" b="1">
                <a:solidFill>
                  <a:srgbClr val="38BDF8"/>
                </a:solidFill>
                <a:latin typeface="Segoe UI"/>
              </a:defRPr>
            </a:pPr>
            <a:r>
              <a:t>Domain 3: Kaggle Pipeline</a:t>
            </a:r>
          </a:p>
          <a:p>
            <a:pPr>
              <a:defRPr sz="950" b="1">
                <a:solidFill>
                  <a:srgbClr val="10B981"/>
                </a:solidFill>
                <a:latin typeface="Segoe UI"/>
              </a:defRPr>
            </a:pPr>
            <a:r>
              <a:t>7 Unit Tests</a:t>
            </a:r>
          </a:p>
          <a:p>
            <a:pPr>
              <a:spcBef>
                <a:spcPts val="300"/>
              </a:spcBef>
              <a:defRPr sz="850" b="1">
                <a:solidFill>
                  <a:srgbClr val="FFFFFF"/>
                </a:solidFill>
                <a:latin typeface="Segoe UI"/>
              </a:defRPr>
            </a:pPr>
            <a:r>
              <a:t>• Dataset File Existence:</a:t>
            </a:r>
          </a:p>
          <a:p>
            <a:pPr>
              <a:defRPr sz="750">
                <a:solidFill>
                  <a:srgbClr val="CBD5E1"/>
                </a:solidFill>
                <a:latin typeface="Consolas"/>
              </a:defRPr>
            </a:pPr>
            <a:r>
              <a:t>  data/train.csv exists [PASS]</a:t>
            </a:r>
          </a:p>
          <a:p>
            <a:pPr>
              <a:spcBef>
                <a:spcPts val="300"/>
              </a:spcBef>
              <a:defRPr sz="850" b="1">
                <a:solidFill>
                  <a:srgbClr val="FFFFFF"/>
                </a:solidFill>
                <a:latin typeface="Segoe UI"/>
              </a:defRPr>
            </a:pPr>
            <a:r>
              <a:t>• Exact Row Count Audit:</a:t>
            </a:r>
          </a:p>
          <a:p>
            <a:pPr>
              <a:defRPr sz="750">
                <a:solidFill>
                  <a:srgbClr val="CBD5E1"/>
                </a:solidFill>
                <a:latin typeface="Consolas"/>
              </a:defRPr>
            </a:pPr>
            <a:r>
              <a:t>  Exactly 4,269 records verified [PASS]</a:t>
            </a:r>
          </a:p>
          <a:p>
            <a:pPr>
              <a:spcBef>
                <a:spcPts val="300"/>
              </a:spcBef>
              <a:defRPr sz="850" b="1">
                <a:solidFill>
                  <a:srgbClr val="FFFFFF"/>
                </a:solidFill>
                <a:latin typeface="Segoe UI"/>
              </a:defRPr>
            </a:pPr>
            <a:r>
              <a:t>• Target Standardization:</a:t>
            </a:r>
          </a:p>
          <a:p>
            <a:pPr>
              <a:defRPr sz="750">
                <a:solidFill>
                  <a:srgbClr val="CBD5E1"/>
                </a:solidFill>
                <a:latin typeface="Consolas"/>
              </a:defRPr>
            </a:pPr>
            <a:r>
              <a:t>  loan_status_binary in {0, 1} [PASS]</a:t>
            </a:r>
          </a:p>
          <a:p>
            <a:pPr>
              <a:spcBef>
                <a:spcPts val="300"/>
              </a:spcBef>
              <a:defRPr sz="850" b="1">
                <a:solidFill>
                  <a:srgbClr val="FFFFFF"/>
                </a:solidFill>
                <a:latin typeface="Segoe UI"/>
              </a:defRPr>
            </a:pPr>
            <a:r>
              <a:t>• Feature Preservation:</a:t>
            </a:r>
          </a:p>
          <a:p>
            <a:pPr>
              <a:defRPr sz="750">
                <a:solidFill>
                  <a:srgbClr val="CBD5E1"/>
                </a:solidFill>
                <a:latin typeface="Consolas"/>
              </a:defRPr>
            </a:pPr>
            <a:r>
              <a:t>  Feature pipeline preserves rows [PASS]</a:t>
            </a:r>
          </a:p>
          <a:p>
            <a:pPr>
              <a:spcBef>
                <a:spcPts val="300"/>
              </a:spcBef>
              <a:defRPr sz="850" b="1">
                <a:solidFill>
                  <a:srgbClr val="FFFFFF"/>
                </a:solidFill>
                <a:latin typeface="Segoe UI"/>
              </a:defRPr>
            </a:pPr>
            <a:r>
              <a:t>• Derived Metric Audit:</a:t>
            </a:r>
          </a:p>
          <a:p>
            <a:pPr>
              <a:defRPr sz="750">
                <a:solidFill>
                  <a:srgbClr val="CBD5E1"/>
                </a:solidFill>
                <a:latin typeface="Consolas"/>
              </a:defRPr>
            </a:pPr>
            <a:r>
              <a:t>  monthly_income, total_assets [PASS]</a:t>
            </a:r>
          </a:p>
          <a:p>
            <a:pPr>
              <a:spcBef>
                <a:spcPts val="300"/>
              </a:spcBef>
              <a:defRPr sz="850" b="1">
                <a:solidFill>
                  <a:srgbClr val="FFFFFF"/>
                </a:solidFill>
                <a:latin typeface="Segoe UI"/>
              </a:defRPr>
            </a:pPr>
            <a:r>
              <a:t>• Algebraic Net Worth:</a:t>
            </a:r>
          </a:p>
          <a:p>
            <a:pPr>
              <a:defRPr sz="750">
                <a:solidFill>
                  <a:srgbClr val="CBD5E1"/>
                </a:solidFill>
                <a:latin typeface="Consolas"/>
              </a:defRPr>
            </a:pPr>
            <a:r>
              <a:t>  Total assets = sum of 4 classes [PASS]</a:t>
            </a:r>
          </a:p>
          <a:p>
            <a:pPr>
              <a:spcBef>
                <a:spcPts val="300"/>
              </a:spcBef>
              <a:defRPr sz="850" b="1">
                <a:solidFill>
                  <a:srgbClr val="FFFFFF"/>
                </a:solidFill>
                <a:latin typeface="Segoe UI"/>
              </a:defRPr>
            </a:pPr>
            <a:r>
              <a:t>• Immovable Collateral:</a:t>
            </a:r>
          </a:p>
          <a:p>
            <a:pPr>
              <a:defRPr sz="750">
                <a:solidFill>
                  <a:srgbClr val="CBD5E1"/>
                </a:solidFill>
                <a:latin typeface="Consolas"/>
              </a:defRPr>
            </a:pPr>
            <a:r>
              <a:t>  pmax(0, res + com assets) [PASS]</a:t>
            </a:r>
          </a:p>
        </p:txBody>
      </p:sp>
      <p:sp>
        <p:nvSpPr>
          <p:cNvPr id="15" name="Rounded Rectangle 14"/>
          <p:cNvSpPr/>
          <p:nvPr/>
        </p:nvSpPr>
        <p:spPr>
          <a:xfrm>
            <a:off x="8906256" y="2240280"/>
            <a:ext cx="2542032" cy="3977639"/>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43416" y="2331720"/>
            <a:ext cx="2267712" cy="3794759"/>
          </a:xfrm>
          <a:prstGeom prst="rect">
            <a:avLst/>
          </a:prstGeom>
          <a:noFill/>
        </p:spPr>
        <p:txBody>
          <a:bodyPr wrap="square">
            <a:spAutoFit/>
          </a:bodyPr>
          <a:lstStyle/>
          <a:p>
            <a:pPr>
              <a:defRPr sz="1100" b="1">
                <a:solidFill>
                  <a:srgbClr val="38BDF8"/>
                </a:solidFill>
                <a:latin typeface="Segoe UI"/>
              </a:defRPr>
            </a:pPr>
            <a:r>
              <a:t>Domain 4: ML Inference &amp; UI</a:t>
            </a:r>
          </a:p>
          <a:p>
            <a:pPr>
              <a:defRPr sz="950" b="1">
                <a:solidFill>
                  <a:srgbClr val="10B981"/>
                </a:solidFill>
                <a:latin typeface="Segoe UI"/>
              </a:defRPr>
            </a:pPr>
            <a:r>
              <a:t>16 Unit Tests</a:t>
            </a:r>
          </a:p>
          <a:p>
            <a:pPr>
              <a:spcBef>
                <a:spcPts val="300"/>
              </a:spcBef>
              <a:defRPr sz="850" b="1">
                <a:solidFill>
                  <a:srgbClr val="FFFFFF"/>
                </a:solidFill>
                <a:latin typeface="Segoe UI"/>
              </a:defRPr>
            </a:pPr>
            <a:r>
              <a:t>• Model Bundle Loaded:</a:t>
            </a:r>
          </a:p>
          <a:p>
            <a:pPr>
              <a:defRPr sz="750">
                <a:solidFill>
                  <a:srgbClr val="CBD5E1"/>
                </a:solidFill>
                <a:latin typeface="Consolas"/>
              </a:defRPr>
            </a:pPr>
            <a:r>
              <a:t>  models/model_comparison.rds [PASS]</a:t>
            </a:r>
          </a:p>
          <a:p>
            <a:pPr>
              <a:spcBef>
                <a:spcPts val="300"/>
              </a:spcBef>
              <a:defRPr sz="850" b="1">
                <a:solidFill>
                  <a:srgbClr val="FFFFFF"/>
                </a:solidFill>
                <a:latin typeface="Segoe UI"/>
              </a:defRPr>
            </a:pPr>
            <a:r>
              <a:t>• Logistic Model Loaded:</a:t>
            </a:r>
          </a:p>
          <a:p>
            <a:pPr>
              <a:defRPr sz="750">
                <a:solidFill>
                  <a:srgbClr val="CBD5E1"/>
                </a:solidFill>
                <a:latin typeface="Consolas"/>
              </a:defRPr>
            </a:pPr>
            <a:r>
              <a:t>  GLM model verified [PASS]</a:t>
            </a:r>
          </a:p>
          <a:p>
            <a:pPr>
              <a:spcBef>
                <a:spcPts val="300"/>
              </a:spcBef>
              <a:defRPr sz="850" b="1">
                <a:solidFill>
                  <a:srgbClr val="FFFFFF"/>
                </a:solidFill>
                <a:latin typeface="Segoe UI"/>
              </a:defRPr>
            </a:pPr>
            <a:r>
              <a:t>• Random Forest Loaded:</a:t>
            </a:r>
          </a:p>
          <a:p>
            <a:pPr>
              <a:defRPr sz="750">
                <a:solidFill>
                  <a:srgbClr val="CBD5E1"/>
                </a:solidFill>
                <a:latin typeface="Consolas"/>
              </a:defRPr>
            </a:pPr>
            <a:r>
              <a:t>  RF model verified [PASS]</a:t>
            </a:r>
          </a:p>
          <a:p>
            <a:pPr>
              <a:spcBef>
                <a:spcPts val="300"/>
              </a:spcBef>
              <a:defRPr sz="850" b="1">
                <a:solidFill>
                  <a:srgbClr val="FFFFFF"/>
                </a:solidFill>
                <a:latin typeface="Segoe UI"/>
              </a:defRPr>
            </a:pPr>
            <a:r>
              <a:t>• XGBoost Model Loaded:</a:t>
            </a:r>
          </a:p>
          <a:p>
            <a:pPr>
              <a:defRPr sz="750">
                <a:solidFill>
                  <a:srgbClr val="CBD5E1"/>
                </a:solidFill>
                <a:latin typeface="Consolas"/>
              </a:defRPr>
            </a:pPr>
            <a:r>
              <a:t>  XGBoost model verified [PASS]</a:t>
            </a:r>
          </a:p>
          <a:p>
            <a:pPr>
              <a:spcBef>
                <a:spcPts val="300"/>
              </a:spcBef>
              <a:defRPr sz="850" b="1">
                <a:solidFill>
                  <a:srgbClr val="FFFFFF"/>
                </a:solidFill>
                <a:latin typeface="Segoe UI"/>
              </a:defRPr>
            </a:pPr>
            <a:r>
              <a:t>• RF Real-Time Inference:</a:t>
            </a:r>
          </a:p>
          <a:p>
            <a:pPr>
              <a:defRPr sz="750">
                <a:solidFill>
                  <a:srgbClr val="CBD5E1"/>
                </a:solidFill>
                <a:latin typeface="Consolas"/>
              </a:defRPr>
            </a:pPr>
            <a:r>
              <a:t>  Valid probability [0, 1] [PASS]</a:t>
            </a:r>
          </a:p>
          <a:p>
            <a:pPr>
              <a:spcBef>
                <a:spcPts val="300"/>
              </a:spcBef>
              <a:defRPr sz="850" b="1">
                <a:solidFill>
                  <a:srgbClr val="FFFFFF"/>
                </a:solidFill>
                <a:latin typeface="Segoe UI"/>
              </a:defRPr>
            </a:pPr>
            <a:r>
              <a:t>• XGB Real-Time Inference:</a:t>
            </a:r>
          </a:p>
          <a:p>
            <a:pPr>
              <a:defRPr sz="750">
                <a:solidFill>
                  <a:srgbClr val="CBD5E1"/>
                </a:solidFill>
                <a:latin typeface="Consolas"/>
              </a:defRPr>
            </a:pPr>
            <a:r>
              <a:t>  Valid probability [0, 1] [PASS]</a:t>
            </a:r>
          </a:p>
          <a:p>
            <a:pPr>
              <a:spcBef>
                <a:spcPts val="300"/>
              </a:spcBef>
              <a:defRPr sz="850" b="1">
                <a:solidFill>
                  <a:srgbClr val="FFFFFF"/>
                </a:solidFill>
                <a:latin typeface="Segoe UI"/>
              </a:defRPr>
            </a:pPr>
            <a:r>
              <a:t>• Input Validation Engine:</a:t>
            </a:r>
          </a:p>
          <a:p>
            <a:pPr>
              <a:defRPr sz="750">
                <a:solidFill>
                  <a:srgbClr val="CBD5E1"/>
                </a:solidFill>
                <a:latin typeface="Consolas"/>
              </a:defRPr>
            </a:pPr>
            <a:r>
              <a:t>  Catches age&lt;18, neg income [PASS]</a:t>
            </a:r>
          </a:p>
          <a:p>
            <a:pPr>
              <a:spcBef>
                <a:spcPts val="300"/>
              </a:spcBef>
              <a:defRPr sz="850" b="1">
                <a:solidFill>
                  <a:srgbClr val="FFFFFF"/>
                </a:solidFill>
                <a:latin typeface="Segoe UI"/>
              </a:defRPr>
            </a:pPr>
            <a:r>
              <a:t>• Headless Shiny Daemon:</a:t>
            </a:r>
          </a:p>
          <a:p>
            <a:pPr>
              <a:defRPr sz="750">
                <a:solidFill>
                  <a:srgbClr val="CBD5E1"/>
                </a:solidFill>
                <a:latin typeface="Consolas"/>
              </a:defRPr>
            </a:pPr>
            <a:r>
              <a:t>  HTTP 200 OK on Port 7890 [PASS]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Segoe UI"/>
              </a:defRPr>
            </a:pPr>
            <a:r>
              <a:t>LOANWISER  •  REVIEW 2: IMPLEMENTATION &amp; RESULTS</a:t>
            </a:r>
          </a:p>
        </p:txBody>
      </p:sp>
      <p:sp>
        <p:nvSpPr>
          <p:cNvPr id="4" name="TextBox 3"/>
          <p:cNvSpPr txBox="1"/>
          <p:nvPr/>
        </p:nvSpPr>
        <p:spPr>
          <a:xfrm>
            <a:off x="731520" y="594360"/>
            <a:ext cx="10698480" cy="502920"/>
          </a:xfrm>
          <a:prstGeom prst="rect">
            <a:avLst/>
          </a:prstGeom>
          <a:noFill/>
        </p:spPr>
        <p:txBody>
          <a:bodyPr wrap="square" lIns="0" tIns="0" rIns="0" bIns="0">
            <a:spAutoFit/>
          </a:bodyPr>
          <a:lstStyle/>
          <a:p>
            <a:pPr>
              <a:defRPr sz="2100" b="1">
                <a:solidFill>
                  <a:srgbClr val="FFFFFF"/>
                </a:solidFill>
                <a:latin typeface="Segoe UI"/>
              </a:defRPr>
            </a:pPr>
            <a:r>
              <a:t>Implementation Challenges &amp; Technical Solutions</a:t>
            </a:r>
          </a:p>
        </p:txBody>
      </p:sp>
      <p:sp>
        <p:nvSpPr>
          <p:cNvPr id="5" name="TextBox 4"/>
          <p:cNvSpPr txBox="1"/>
          <p:nvPr/>
        </p:nvSpPr>
        <p:spPr>
          <a:xfrm>
            <a:off x="731520" y="1078992"/>
            <a:ext cx="10698480" cy="320040"/>
          </a:xfrm>
          <a:prstGeom prst="rect">
            <a:avLst/>
          </a:prstGeom>
          <a:noFill/>
        </p:spPr>
        <p:txBody>
          <a:bodyPr wrap="square" lIns="0" tIns="0" rIns="0" bIns="0">
            <a:spAutoFit/>
          </a:bodyPr>
          <a:lstStyle/>
          <a:p>
            <a:pPr>
              <a:defRPr sz="1100">
                <a:solidFill>
                  <a:srgbClr val="94A3B8"/>
                </a:solidFill>
                <a:latin typeface="Segoe UI"/>
              </a:defRPr>
            </a:pPr>
            <a:r>
              <a:t>Authentic Engineering Hurdles Encountered and Resolved During System Development</a:t>
            </a:r>
          </a:p>
        </p:txBody>
      </p:sp>
      <p:sp>
        <p:nvSpPr>
          <p:cNvPr id="6" name="TextBox 5"/>
          <p:cNvSpPr txBox="1"/>
          <p:nvPr/>
        </p:nvSpPr>
        <p:spPr>
          <a:xfrm>
            <a:off x="731520" y="6492240"/>
            <a:ext cx="9144000" cy="274320"/>
          </a:xfrm>
          <a:prstGeom prst="rect">
            <a:avLst/>
          </a:prstGeom>
          <a:noFill/>
        </p:spPr>
        <p:txBody>
          <a:bodyPr wrap="none" lIns="0" tIns="0" rIns="0" bIns="0">
            <a:spAutoFit/>
          </a:bodyPr>
          <a:lstStyle/>
          <a:p>
            <a:pPr>
              <a:defRPr sz="900">
                <a:solidFill>
                  <a:srgbClr val="94A3B8"/>
                </a:solidFill>
                <a:latin typeface="Segoe UI"/>
              </a:defRPr>
            </a:pPr>
            <a:r>
              <a:t>LOANWISER  |  Review 2: Implementation &amp; Results  |  S. Karpagam (24BDS1210) &amp; Shruti Chaturvedi (24BDS1003)</a:t>
            </a:r>
          </a:p>
        </p:txBody>
      </p:sp>
      <p:sp>
        <p:nvSpPr>
          <p:cNvPr id="7" name="TextBox 6"/>
          <p:cNvSpPr txBox="1"/>
          <p:nvPr/>
        </p:nvSpPr>
        <p:spPr>
          <a:xfrm>
            <a:off x="10515600" y="6492240"/>
            <a:ext cx="914400" cy="274320"/>
          </a:xfrm>
          <a:prstGeom prst="rect">
            <a:avLst/>
          </a:prstGeom>
          <a:noFill/>
        </p:spPr>
        <p:txBody>
          <a:bodyPr wrap="none" lIns="0" tIns="0" rIns="0" bIns="0">
            <a:spAutoFit/>
          </a:bodyPr>
          <a:lstStyle/>
          <a:p>
            <a:pPr algn="r">
              <a:defRPr sz="900" b="1">
                <a:solidFill>
                  <a:srgbClr val="38BDF8"/>
                </a:solidFill>
                <a:latin typeface="Segoe UI"/>
              </a:defRPr>
            </a:pPr>
            <a:r>
              <a:t>13 / 15</a:t>
            </a:r>
          </a:p>
        </p:txBody>
      </p:sp>
      <p:sp>
        <p:nvSpPr>
          <p:cNvPr id="8" name="Rounded Rectangle 7"/>
          <p:cNvSpPr/>
          <p:nvPr/>
        </p:nvSpPr>
        <p:spPr>
          <a:xfrm>
            <a:off x="731520" y="1508760"/>
            <a:ext cx="3447288" cy="470916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645920"/>
            <a:ext cx="3118104" cy="4379976"/>
          </a:xfrm>
          <a:prstGeom prst="rect">
            <a:avLst/>
          </a:prstGeom>
          <a:noFill/>
        </p:spPr>
        <p:txBody>
          <a:bodyPr wrap="square">
            <a:spAutoFit/>
          </a:bodyPr>
          <a:lstStyle/>
          <a:p>
            <a:pPr>
              <a:defRPr sz="1000" b="1">
                <a:solidFill>
                  <a:srgbClr val="38BDF8"/>
                </a:solidFill>
                <a:latin typeface="Segoe UI"/>
              </a:defRPr>
            </a:pPr>
            <a:r>
              <a:t>CHALLENGE 01</a:t>
            </a:r>
          </a:p>
          <a:p>
            <a:pPr>
              <a:spcBef>
                <a:spcPts val="200"/>
              </a:spcBef>
              <a:defRPr sz="1300" b="1">
                <a:solidFill>
                  <a:srgbClr val="FFFFFF"/>
                </a:solidFill>
                <a:latin typeface="Segoe UI"/>
              </a:defRPr>
            </a:pPr>
            <a:r>
              <a:t>Negative Asset Values in Kaggle Training Dataset</a:t>
            </a:r>
          </a:p>
          <a:p>
            <a:pPr>
              <a:spcBef>
                <a:spcPts val="800"/>
              </a:spcBef>
              <a:defRPr sz="950" b="1">
                <a:solidFill>
                  <a:srgbClr val="EF4444"/>
                </a:solidFill>
                <a:latin typeface="Segoe UI"/>
              </a:defRPr>
            </a:pPr>
            <a:r>
              <a:t>THE HURDLE:</a:t>
            </a:r>
          </a:p>
          <a:p>
            <a:pPr>
              <a:spcBef>
                <a:spcPts val="200"/>
              </a:spcBef>
              <a:defRPr sz="900">
                <a:solidFill>
                  <a:srgbClr val="CBD5E1"/>
                </a:solidFill>
                <a:latin typeface="Segoe UI"/>
              </a:defRPr>
            </a:pPr>
            <a:r>
              <a:t>The raw Kaggle dataset contained negative values for residential assets (minimum = -100,000 INR), representing negative equity or home loan overdrafts. Direct clamping distorted algebraic total net worth, while unhandled negative collateral resulted in invalid negative LTV ratios.</a:t>
            </a:r>
          </a:p>
          <a:p>
            <a:pPr>
              <a:spcBef>
                <a:spcPts val="800"/>
              </a:spcBef>
              <a:defRPr sz="950" b="1">
                <a:solidFill>
                  <a:srgbClr val="10B981"/>
                </a:solidFill>
                <a:latin typeface="Segoe UI"/>
              </a:defRPr>
            </a:pPr>
            <a:r>
              <a:t>ENGINEERING SOLUTION:</a:t>
            </a:r>
          </a:p>
          <a:p>
            <a:pPr>
              <a:spcBef>
                <a:spcPts val="200"/>
              </a:spcBef>
              <a:defRPr sz="900">
                <a:solidFill>
                  <a:srgbClr val="CBD5E1"/>
                </a:solidFill>
                <a:latin typeface="Segoe UI"/>
              </a:defRPr>
            </a:pPr>
            <a:r>
              <a:t>Adapted R/feature_engineering.R to distinguish net worth from collateral appraisal. Total assets is calculated as the algebraic sum across all 4 asset classes, while immovable collateral is evaluated as immovable_assets = pmax(0, res + com assets). This guarantees realistic non-negative LTVs.</a:t>
            </a:r>
          </a:p>
          <a:p>
            <a:pPr>
              <a:spcBef>
                <a:spcPts val="800"/>
              </a:spcBef>
              <a:defRPr sz="950" b="1">
                <a:solidFill>
                  <a:srgbClr val="38BDF8"/>
                </a:solidFill>
                <a:latin typeface="Segoe UI"/>
              </a:defRPr>
            </a:pPr>
            <a:r>
              <a:t>VERIFIED OUTCOME:</a:t>
            </a:r>
          </a:p>
          <a:p>
            <a:pPr>
              <a:spcBef>
                <a:spcPts val="200"/>
              </a:spcBef>
              <a:defRPr sz="900">
                <a:solidFill>
                  <a:srgbClr val="CBD5E1"/>
                </a:solidFill>
                <a:latin typeface="Segoe UI"/>
              </a:defRPr>
            </a:pPr>
            <a:r>
              <a:t>Preserves statistical fidelity of borrower net worth while guaranteeing mathematically valid LTV collateral appraisal.</a:t>
            </a:r>
          </a:p>
        </p:txBody>
      </p:sp>
      <p:sp>
        <p:nvSpPr>
          <p:cNvPr id="10" name="Rounded Rectangle 9"/>
          <p:cNvSpPr/>
          <p:nvPr/>
        </p:nvSpPr>
        <p:spPr>
          <a:xfrm>
            <a:off x="4361688" y="1508760"/>
            <a:ext cx="3447288" cy="470916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645920"/>
            <a:ext cx="3118104" cy="4379976"/>
          </a:xfrm>
          <a:prstGeom prst="rect">
            <a:avLst/>
          </a:prstGeom>
          <a:noFill/>
        </p:spPr>
        <p:txBody>
          <a:bodyPr wrap="square">
            <a:spAutoFit/>
          </a:bodyPr>
          <a:lstStyle/>
          <a:p>
            <a:pPr>
              <a:defRPr sz="1000" b="1">
                <a:solidFill>
                  <a:srgbClr val="38BDF8"/>
                </a:solidFill>
                <a:latin typeface="Segoe UI"/>
              </a:defRPr>
            </a:pPr>
            <a:r>
              <a:t>CHALLENGE 02</a:t>
            </a:r>
          </a:p>
          <a:p>
            <a:pPr>
              <a:spcBef>
                <a:spcPts val="200"/>
              </a:spcBef>
              <a:defRPr sz="1300" b="1">
                <a:solidFill>
                  <a:srgbClr val="FFFFFF"/>
                </a:solidFill>
                <a:latin typeface="Segoe UI"/>
              </a:defRPr>
            </a:pPr>
            <a:r>
              <a:t>Training-Serving Skew in Real-Time Shiny Predictions</a:t>
            </a:r>
          </a:p>
          <a:p>
            <a:pPr>
              <a:spcBef>
                <a:spcPts val="800"/>
              </a:spcBef>
              <a:defRPr sz="950" b="1">
                <a:solidFill>
                  <a:srgbClr val="EF4444"/>
                </a:solidFill>
                <a:latin typeface="Segoe UI"/>
              </a:defRPr>
            </a:pPr>
            <a:r>
              <a:t>THE HURDLE:</a:t>
            </a:r>
          </a:p>
          <a:p>
            <a:pPr>
              <a:spcBef>
                <a:spcPts val="200"/>
              </a:spcBef>
              <a:defRPr sz="900">
                <a:solidFill>
                  <a:srgbClr val="CBD5E1"/>
                </a:solidFill>
                <a:latin typeface="Segoe UI"/>
              </a:defRPr>
            </a:pPr>
            <a:r>
              <a:t>In ML pipelines, features engineered during offline batch training often mismatch the feature shape or factor encoding generated by interactive UI inputs, causing runtime model dimension errors during single-row inference.</a:t>
            </a:r>
          </a:p>
          <a:p>
            <a:pPr>
              <a:spcBef>
                <a:spcPts val="800"/>
              </a:spcBef>
              <a:defRPr sz="950" b="1">
                <a:solidFill>
                  <a:srgbClr val="10B981"/>
                </a:solidFill>
                <a:latin typeface="Segoe UI"/>
              </a:defRPr>
            </a:pPr>
            <a:r>
              <a:t>ENGINEERING SOLUTION:</a:t>
            </a:r>
          </a:p>
          <a:p>
            <a:pPr>
              <a:spcBef>
                <a:spcPts val="200"/>
              </a:spcBef>
              <a:defRPr sz="900">
                <a:solidFill>
                  <a:srgbClr val="CBD5E1"/>
                </a:solidFill>
                <a:latin typeface="Segoe UI"/>
              </a:defRPr>
            </a:pPr>
            <a:r>
              <a:t>Implemented a unified engineer_features() pipeline used identically in both batch offline training and real-time single-row Shiny inference. Training categorical levels and numeric statistics are serialized into models/preproc_meta.rds and enforced during inference.</a:t>
            </a:r>
          </a:p>
          <a:p>
            <a:pPr>
              <a:spcBef>
                <a:spcPts val="800"/>
              </a:spcBef>
              <a:defRPr sz="950" b="1">
                <a:solidFill>
                  <a:srgbClr val="38BDF8"/>
                </a:solidFill>
                <a:latin typeface="Segoe UI"/>
              </a:defRPr>
            </a:pPr>
            <a:r>
              <a:t>VERIFIED OUTCOME:</a:t>
            </a:r>
          </a:p>
          <a:p>
            <a:pPr>
              <a:spcBef>
                <a:spcPts val="200"/>
              </a:spcBef>
              <a:defRPr sz="900">
                <a:solidFill>
                  <a:srgbClr val="CBD5E1"/>
                </a:solidFill>
                <a:latin typeface="Segoe UI"/>
              </a:defRPr>
            </a:pPr>
            <a:r>
              <a:t>Zero training-serving skew. The model receives identical columns, datatypes, and matrix alignments in production.</a:t>
            </a:r>
          </a:p>
        </p:txBody>
      </p:sp>
      <p:sp>
        <p:nvSpPr>
          <p:cNvPr id="12" name="Rounded Rectangle 11"/>
          <p:cNvSpPr/>
          <p:nvPr/>
        </p:nvSpPr>
        <p:spPr>
          <a:xfrm>
            <a:off x="7991856" y="1508760"/>
            <a:ext cx="3447288" cy="470916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56448" y="1645920"/>
            <a:ext cx="3118104" cy="4379976"/>
          </a:xfrm>
          <a:prstGeom prst="rect">
            <a:avLst/>
          </a:prstGeom>
          <a:noFill/>
        </p:spPr>
        <p:txBody>
          <a:bodyPr wrap="square">
            <a:spAutoFit/>
          </a:bodyPr>
          <a:lstStyle/>
          <a:p>
            <a:pPr>
              <a:defRPr sz="1000" b="1">
                <a:solidFill>
                  <a:srgbClr val="38BDF8"/>
                </a:solidFill>
                <a:latin typeface="Segoe UI"/>
              </a:defRPr>
            </a:pPr>
            <a:r>
              <a:t>CHALLENGE 03</a:t>
            </a:r>
          </a:p>
          <a:p>
            <a:pPr>
              <a:spcBef>
                <a:spcPts val="200"/>
              </a:spcBef>
              <a:defRPr sz="1300" b="1">
                <a:solidFill>
                  <a:srgbClr val="FFFFFF"/>
                </a:solidFill>
                <a:latin typeface="Segoe UI"/>
              </a:defRPr>
            </a:pPr>
            <a:r>
              <a:t>Network Timeouts on Heavy CRAN Dependencies</a:t>
            </a:r>
          </a:p>
          <a:p>
            <a:pPr>
              <a:spcBef>
                <a:spcPts val="800"/>
              </a:spcBef>
              <a:defRPr sz="950" b="1">
                <a:solidFill>
                  <a:srgbClr val="EF4444"/>
                </a:solidFill>
                <a:latin typeface="Segoe UI"/>
              </a:defRPr>
            </a:pPr>
            <a:r>
              <a:t>THE HURDLE:</a:t>
            </a:r>
          </a:p>
          <a:p>
            <a:pPr>
              <a:spcBef>
                <a:spcPts val="200"/>
              </a:spcBef>
              <a:defRPr sz="900">
                <a:solidFill>
                  <a:srgbClr val="CBD5E1"/>
                </a:solidFill>
                <a:latin typeface="Segoe UI"/>
              </a:defRPr>
            </a:pPr>
            <a:r>
              <a:t>Automated data ingestion initially relied on janitor::clean_names(), which depends on stringi (a 15MB binary). Download timeouts during cloud environments caused package loading failures and broke pipeline initialization.</a:t>
            </a:r>
          </a:p>
          <a:p>
            <a:pPr>
              <a:spcBef>
                <a:spcPts val="800"/>
              </a:spcBef>
              <a:defRPr sz="950" b="1">
                <a:solidFill>
                  <a:srgbClr val="10B981"/>
                </a:solidFill>
                <a:latin typeface="Segoe UI"/>
              </a:defRPr>
            </a:pPr>
            <a:r>
              <a:t>ENGINEERING SOLUTION:</a:t>
            </a:r>
          </a:p>
          <a:p>
            <a:pPr>
              <a:spcBef>
                <a:spcPts val="200"/>
              </a:spcBef>
              <a:defRPr sz="900">
                <a:solidFill>
                  <a:srgbClr val="CBD5E1"/>
                </a:solidFill>
                <a:latin typeface="Segoe UI"/>
              </a:defRPr>
            </a:pPr>
            <a:r>
              <a:t>Engineered clean_names_safe() in R/load_data.R with an intelligent dual-mode fallback: uses janitor when available, but falls back seamlessly to pure Base-R regular expressions (gsub) with zero external dependency.</a:t>
            </a:r>
          </a:p>
          <a:p>
            <a:pPr>
              <a:spcBef>
                <a:spcPts val="800"/>
              </a:spcBef>
              <a:defRPr sz="950" b="1">
                <a:solidFill>
                  <a:srgbClr val="38BDF8"/>
                </a:solidFill>
                <a:latin typeface="Segoe UI"/>
              </a:defRPr>
            </a:pPr>
            <a:r>
              <a:t>VERIFIED OUTCOME:</a:t>
            </a:r>
          </a:p>
          <a:p>
            <a:pPr>
              <a:spcBef>
                <a:spcPts val="200"/>
              </a:spcBef>
              <a:defRPr sz="900">
                <a:solidFill>
                  <a:srgbClr val="CBD5E1"/>
                </a:solidFill>
                <a:latin typeface="Segoe UI"/>
              </a:defRPr>
            </a:pPr>
            <a:r>
              <a:t>Guaranteed 100% offline self-contained reproducibility without internet dependency or installation failure points.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Segoe UI"/>
              </a:defRPr>
            </a:pPr>
            <a:r>
              <a:t>LOANWISER  •  REVIEW 2: IMPLEMENTATION &amp; RESULTS</a:t>
            </a:r>
          </a:p>
        </p:txBody>
      </p:sp>
      <p:sp>
        <p:nvSpPr>
          <p:cNvPr id="4" name="TextBox 3"/>
          <p:cNvSpPr txBox="1"/>
          <p:nvPr/>
        </p:nvSpPr>
        <p:spPr>
          <a:xfrm>
            <a:off x="731520" y="594360"/>
            <a:ext cx="10698480" cy="502920"/>
          </a:xfrm>
          <a:prstGeom prst="rect">
            <a:avLst/>
          </a:prstGeom>
          <a:noFill/>
        </p:spPr>
        <p:txBody>
          <a:bodyPr wrap="square" lIns="0" tIns="0" rIns="0" bIns="0">
            <a:spAutoFit/>
          </a:bodyPr>
          <a:lstStyle/>
          <a:p>
            <a:pPr>
              <a:defRPr sz="2100" b="1">
                <a:solidFill>
                  <a:srgbClr val="FFFFFF"/>
                </a:solidFill>
                <a:latin typeface="Segoe UI"/>
              </a:defRPr>
            </a:pPr>
            <a:r>
              <a:t>Current Limitations &amp; Future Enhancements</a:t>
            </a:r>
          </a:p>
        </p:txBody>
      </p:sp>
      <p:sp>
        <p:nvSpPr>
          <p:cNvPr id="5" name="TextBox 4"/>
          <p:cNvSpPr txBox="1"/>
          <p:nvPr/>
        </p:nvSpPr>
        <p:spPr>
          <a:xfrm>
            <a:off x="731520" y="1078992"/>
            <a:ext cx="10698480" cy="320040"/>
          </a:xfrm>
          <a:prstGeom prst="rect">
            <a:avLst/>
          </a:prstGeom>
          <a:noFill/>
        </p:spPr>
        <p:txBody>
          <a:bodyPr wrap="square" lIns="0" tIns="0" rIns="0" bIns="0">
            <a:spAutoFit/>
          </a:bodyPr>
          <a:lstStyle/>
          <a:p>
            <a:pPr>
              <a:defRPr sz="1100">
                <a:solidFill>
                  <a:srgbClr val="94A3B8"/>
                </a:solidFill>
                <a:latin typeface="Segoe UI"/>
              </a:defRPr>
            </a:pPr>
            <a:r>
              <a:t>Transparent Boundary Analysis and Planned Production Enhancements</a:t>
            </a:r>
          </a:p>
        </p:txBody>
      </p:sp>
      <p:sp>
        <p:nvSpPr>
          <p:cNvPr id="6" name="TextBox 5"/>
          <p:cNvSpPr txBox="1"/>
          <p:nvPr/>
        </p:nvSpPr>
        <p:spPr>
          <a:xfrm>
            <a:off x="731520" y="6492240"/>
            <a:ext cx="9144000" cy="274320"/>
          </a:xfrm>
          <a:prstGeom prst="rect">
            <a:avLst/>
          </a:prstGeom>
          <a:noFill/>
        </p:spPr>
        <p:txBody>
          <a:bodyPr wrap="none" lIns="0" tIns="0" rIns="0" bIns="0">
            <a:spAutoFit/>
          </a:bodyPr>
          <a:lstStyle/>
          <a:p>
            <a:pPr>
              <a:defRPr sz="900">
                <a:solidFill>
                  <a:srgbClr val="94A3B8"/>
                </a:solidFill>
                <a:latin typeface="Segoe UI"/>
              </a:defRPr>
            </a:pPr>
            <a:r>
              <a:t>LOANWISER  |  Review 2: Implementation &amp; Results  |  S. Karpagam (24BDS1210) &amp; Shruti Chaturvedi (24BDS1003)</a:t>
            </a:r>
          </a:p>
        </p:txBody>
      </p:sp>
      <p:sp>
        <p:nvSpPr>
          <p:cNvPr id="7" name="TextBox 6"/>
          <p:cNvSpPr txBox="1"/>
          <p:nvPr/>
        </p:nvSpPr>
        <p:spPr>
          <a:xfrm>
            <a:off x="10515600" y="6492240"/>
            <a:ext cx="914400" cy="274320"/>
          </a:xfrm>
          <a:prstGeom prst="rect">
            <a:avLst/>
          </a:prstGeom>
          <a:noFill/>
        </p:spPr>
        <p:txBody>
          <a:bodyPr wrap="none" lIns="0" tIns="0" rIns="0" bIns="0">
            <a:spAutoFit/>
          </a:bodyPr>
          <a:lstStyle/>
          <a:p>
            <a:pPr algn="r">
              <a:defRPr sz="900" b="1">
                <a:solidFill>
                  <a:srgbClr val="38BDF8"/>
                </a:solidFill>
                <a:latin typeface="Segoe UI"/>
              </a:defRPr>
            </a:pPr>
            <a:r>
              <a:t>14 / 15</a:t>
            </a:r>
          </a:p>
        </p:txBody>
      </p:sp>
      <p:sp>
        <p:nvSpPr>
          <p:cNvPr id="8" name="Rounded Rectangle 7"/>
          <p:cNvSpPr/>
          <p:nvPr/>
        </p:nvSpPr>
        <p:spPr>
          <a:xfrm>
            <a:off x="731520" y="1508760"/>
            <a:ext cx="5212080" cy="4709160"/>
          </a:xfrm>
          <a:prstGeom prst="roundRect">
            <a:avLst/>
          </a:prstGeom>
          <a:solidFill>
            <a:srgbClr val="132238"/>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4846320" cy="4343400"/>
          </a:xfrm>
          <a:prstGeom prst="rect">
            <a:avLst/>
          </a:prstGeom>
          <a:noFill/>
        </p:spPr>
        <p:txBody>
          <a:bodyPr wrap="square">
            <a:spAutoFit/>
          </a:bodyPr>
          <a:lstStyle/>
          <a:p>
            <a:pPr>
              <a:defRPr sz="1200" b="1">
                <a:solidFill>
                  <a:srgbClr val="F59E0B"/>
                </a:solidFill>
                <a:latin typeface="Segoe UI"/>
              </a:defRPr>
            </a:pPr>
            <a:r>
              <a:t>CURRENT SYSTEM BOUNDARIES &amp; LIMITATIONS</a:t>
            </a:r>
          </a:p>
          <a:p>
            <a:pPr>
              <a:spcBef>
                <a:spcPts val="800"/>
              </a:spcBef>
              <a:defRPr sz="1000" b="1">
                <a:solidFill>
                  <a:srgbClr val="FFFFFF"/>
                </a:solidFill>
                <a:latin typeface="Segoe UI"/>
              </a:defRPr>
            </a:pPr>
            <a:r>
              <a:t>1. Benchmark Interest Rate Assumption</a:t>
            </a:r>
          </a:p>
          <a:p>
            <a:pPr>
              <a:spcBef>
                <a:spcPts val="200"/>
              </a:spcBef>
              <a:defRPr sz="950">
                <a:solidFill>
                  <a:srgbClr val="CBD5E1"/>
                </a:solidFill>
                <a:latin typeface="Segoe UI"/>
              </a:defRPr>
            </a:pPr>
            <a:r>
              <a:t>The Kaggle dataset lacks historical interest rate quotes for applicants. Training utilizes an institutional benchmark rate (9.5% p.a.), while the Shiny interface allows simulation adjustment.</a:t>
            </a:r>
          </a:p>
          <a:p>
            <a:pPr>
              <a:spcBef>
                <a:spcPts val="800"/>
              </a:spcBef>
              <a:defRPr sz="1000" b="1">
                <a:solidFill>
                  <a:srgbClr val="FFFFFF"/>
                </a:solidFill>
                <a:latin typeface="Segoe UI"/>
              </a:defRPr>
            </a:pPr>
            <a:r>
              <a:t>2. Cross-Sectional Snapshot Data</a:t>
            </a:r>
          </a:p>
          <a:p>
            <a:pPr>
              <a:spcBef>
                <a:spcPts val="200"/>
              </a:spcBef>
              <a:defRPr sz="950">
                <a:solidFill>
                  <a:srgbClr val="CBD5E1"/>
                </a:solidFill>
                <a:latin typeface="Segoe UI"/>
              </a:defRPr>
            </a:pPr>
            <a:r>
              <a:t>The dataset captures a single-point-in-time financial snapshot. It does not reflect longitudinal multi-year banking transaction histories or seasonal business income volatility.</a:t>
            </a:r>
          </a:p>
          <a:p>
            <a:pPr>
              <a:spcBef>
                <a:spcPts val="800"/>
              </a:spcBef>
              <a:defRPr sz="1000" b="1">
                <a:solidFill>
                  <a:srgbClr val="FFFFFF"/>
                </a:solidFill>
                <a:latin typeface="Segoe UI"/>
              </a:defRPr>
            </a:pPr>
            <a:r>
              <a:t>3. Single-Product Underwriting Scope</a:t>
            </a:r>
          </a:p>
          <a:p>
            <a:pPr>
              <a:spcBef>
                <a:spcPts val="200"/>
              </a:spcBef>
              <a:defRPr sz="950">
                <a:solidFill>
                  <a:srgbClr val="CBD5E1"/>
                </a:solidFill>
                <a:latin typeface="Segoe UI"/>
              </a:defRPr>
            </a:pPr>
            <a:r>
              <a:t>The predictive models evaluate loan eligibility as a binary outcome rather than dynamically matching applicants across multiple tiered loan products.</a:t>
            </a:r>
          </a:p>
          <a:p>
            <a:pPr>
              <a:spcBef>
                <a:spcPts val="800"/>
              </a:spcBef>
              <a:defRPr sz="1000" b="1">
                <a:solidFill>
                  <a:srgbClr val="FFFFFF"/>
                </a:solidFill>
                <a:latin typeface="Segoe UI"/>
              </a:defRPr>
            </a:pPr>
            <a:r>
              <a:t>4. Local Host Deployment</a:t>
            </a:r>
          </a:p>
          <a:p>
            <a:pPr>
              <a:spcBef>
                <a:spcPts val="200"/>
              </a:spcBef>
              <a:defRPr sz="950">
                <a:solidFill>
                  <a:srgbClr val="CBD5E1"/>
                </a:solidFill>
                <a:latin typeface="Segoe UI"/>
              </a:defRPr>
            </a:pPr>
            <a:r>
              <a:t>Currently deployed locally on a standalone R Shiny server on port 7890 rather than an auto-scaling cloud cluster with load balancers.</a:t>
            </a:r>
          </a:p>
        </p:txBody>
      </p:sp>
      <p:sp>
        <p:nvSpPr>
          <p:cNvPr id="10" name="Rounded Rectangle 9"/>
          <p:cNvSpPr/>
          <p:nvPr/>
        </p:nvSpPr>
        <p:spPr>
          <a:xfrm>
            <a:off x="6248095" y="1508760"/>
            <a:ext cx="5212080" cy="4709160"/>
          </a:xfrm>
          <a:prstGeom prst="roundRect">
            <a:avLst/>
          </a:prstGeom>
          <a:solidFill>
            <a:srgbClr val="132238"/>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0975" y="1645920"/>
            <a:ext cx="4846320" cy="4343400"/>
          </a:xfrm>
          <a:prstGeom prst="rect">
            <a:avLst/>
          </a:prstGeom>
          <a:noFill/>
        </p:spPr>
        <p:txBody>
          <a:bodyPr wrap="square">
            <a:spAutoFit/>
          </a:bodyPr>
          <a:lstStyle/>
          <a:p>
            <a:pPr>
              <a:defRPr sz="1200" b="1">
                <a:solidFill>
                  <a:srgbClr val="10B981"/>
                </a:solidFill>
                <a:latin typeface="Segoe UI"/>
              </a:defRPr>
            </a:pPr>
            <a:r>
              <a:t>PLANNED FUTURE TECHNICAL ENHANCEMENTS</a:t>
            </a:r>
          </a:p>
          <a:p>
            <a:pPr>
              <a:spcBef>
                <a:spcPts val="800"/>
              </a:spcBef>
              <a:defRPr sz="1000" b="1">
                <a:solidFill>
                  <a:srgbClr val="FFFFFF"/>
                </a:solidFill>
                <a:latin typeface="Segoe UI"/>
              </a:defRPr>
            </a:pPr>
            <a:r>
              <a:t>1. Live Credit Bureau API Integration</a:t>
            </a:r>
          </a:p>
          <a:p>
            <a:pPr>
              <a:spcBef>
                <a:spcPts val="200"/>
              </a:spcBef>
              <a:defRPr sz="950">
                <a:solidFill>
                  <a:srgbClr val="CBD5E1"/>
                </a:solidFill>
                <a:latin typeface="Segoe UI"/>
              </a:defRPr>
            </a:pPr>
            <a:r>
              <a:t>Integrate REST APIs from Experian / CIBIL to pull live credit scores, active tradelines, and delinquent payment counts automatically.</a:t>
            </a:r>
          </a:p>
          <a:p>
            <a:pPr>
              <a:spcBef>
                <a:spcPts val="800"/>
              </a:spcBef>
              <a:defRPr sz="1000" b="1">
                <a:solidFill>
                  <a:srgbClr val="FFFFFF"/>
                </a:solidFill>
                <a:latin typeface="Segoe UI"/>
              </a:defRPr>
            </a:pPr>
            <a:r>
              <a:t>2. Local Model Explainability (SHAP / LIME)</a:t>
            </a:r>
          </a:p>
          <a:p>
            <a:pPr>
              <a:spcBef>
                <a:spcPts val="200"/>
              </a:spcBef>
              <a:defRPr sz="950">
                <a:solidFill>
                  <a:srgbClr val="CBD5E1"/>
                </a:solidFill>
                <a:latin typeface="Segoe UI"/>
              </a:defRPr>
            </a:pPr>
            <a:r>
              <a:t>Implement Shapley Additive Explanations (SHAP) in R to generate personalized waterfall charts showing exact feature contributions for each applicant.</a:t>
            </a:r>
          </a:p>
          <a:p>
            <a:pPr>
              <a:spcBef>
                <a:spcPts val="800"/>
              </a:spcBef>
              <a:defRPr sz="1000" b="1">
                <a:solidFill>
                  <a:srgbClr val="FFFFFF"/>
                </a:solidFill>
                <a:latin typeface="Segoe UI"/>
              </a:defRPr>
            </a:pPr>
            <a:r>
              <a:t>3. Multi-Product Loan Rerouting Engine</a:t>
            </a:r>
          </a:p>
          <a:p>
            <a:pPr>
              <a:spcBef>
                <a:spcPts val="200"/>
              </a:spcBef>
              <a:defRPr sz="950">
                <a:solidFill>
                  <a:srgbClr val="CBD5E1"/>
                </a:solidFill>
                <a:latin typeface="Segoe UI"/>
              </a:defRPr>
            </a:pPr>
            <a:r>
              <a:t>For rejected prime loan applicants, dynamically calculate maximum eligible principal amounts or reroute toward secured asset-backed lending options.</a:t>
            </a:r>
          </a:p>
          <a:p>
            <a:pPr>
              <a:spcBef>
                <a:spcPts val="800"/>
              </a:spcBef>
              <a:defRPr sz="1000" b="1">
                <a:solidFill>
                  <a:srgbClr val="FFFFFF"/>
                </a:solidFill>
                <a:latin typeface="Segoe UI"/>
              </a:defRPr>
            </a:pPr>
            <a:r>
              <a:t>4. Docker Containerization &amp; Cloud Deployment</a:t>
            </a:r>
          </a:p>
          <a:p>
            <a:pPr>
              <a:spcBef>
                <a:spcPts val="200"/>
              </a:spcBef>
              <a:defRPr sz="950">
                <a:solidFill>
                  <a:srgbClr val="CBD5E1"/>
                </a:solidFill>
                <a:latin typeface="Segoe UI"/>
              </a:defRPr>
            </a:pPr>
            <a:r>
              <a:t>Package the R Shiny application inside a containerized Docker environment for scalable multi-tenant deployment on Posit Connect or AWS ECS.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Segoe UI"/>
              </a:defRPr>
            </a:pPr>
            <a:r>
              <a:t>LOANWISER  •  REVIEW 2: IMPLEMENTATION &amp; RESULTS</a:t>
            </a:r>
          </a:p>
        </p:txBody>
      </p:sp>
      <p:sp>
        <p:nvSpPr>
          <p:cNvPr id="4" name="TextBox 3"/>
          <p:cNvSpPr txBox="1"/>
          <p:nvPr/>
        </p:nvSpPr>
        <p:spPr>
          <a:xfrm>
            <a:off x="731520" y="594360"/>
            <a:ext cx="10698480" cy="502920"/>
          </a:xfrm>
          <a:prstGeom prst="rect">
            <a:avLst/>
          </a:prstGeom>
          <a:noFill/>
        </p:spPr>
        <p:txBody>
          <a:bodyPr wrap="square" lIns="0" tIns="0" rIns="0" bIns="0">
            <a:spAutoFit/>
          </a:bodyPr>
          <a:lstStyle/>
          <a:p>
            <a:pPr>
              <a:defRPr sz="2100" b="1">
                <a:solidFill>
                  <a:srgbClr val="FFFFFF"/>
                </a:solidFill>
                <a:latin typeface="Segoe UI"/>
              </a:defRPr>
            </a:pPr>
            <a:r>
              <a:t>Conclusion &amp; Viva Voce Q&amp;A</a:t>
            </a:r>
          </a:p>
        </p:txBody>
      </p:sp>
      <p:sp>
        <p:nvSpPr>
          <p:cNvPr id="5" name="TextBox 4"/>
          <p:cNvSpPr txBox="1"/>
          <p:nvPr/>
        </p:nvSpPr>
        <p:spPr>
          <a:xfrm>
            <a:off x="731520" y="1078992"/>
            <a:ext cx="10698480" cy="320040"/>
          </a:xfrm>
          <a:prstGeom prst="rect">
            <a:avLst/>
          </a:prstGeom>
          <a:noFill/>
        </p:spPr>
        <p:txBody>
          <a:bodyPr wrap="square" lIns="0" tIns="0" rIns="0" bIns="0">
            <a:spAutoFit/>
          </a:bodyPr>
          <a:lstStyle/>
          <a:p>
            <a:pPr>
              <a:defRPr sz="1100">
                <a:solidFill>
                  <a:srgbClr val="94A3B8"/>
                </a:solidFill>
                <a:latin typeface="Segoe UI"/>
              </a:defRPr>
            </a:pPr>
            <a:r>
              <a:t>Summary of Implemented Deliverables, Academic Value, and Acknowledgements</a:t>
            </a:r>
          </a:p>
        </p:txBody>
      </p:sp>
      <p:sp>
        <p:nvSpPr>
          <p:cNvPr id="6" name="TextBox 5"/>
          <p:cNvSpPr txBox="1"/>
          <p:nvPr/>
        </p:nvSpPr>
        <p:spPr>
          <a:xfrm>
            <a:off x="731520" y="6492240"/>
            <a:ext cx="9144000" cy="274320"/>
          </a:xfrm>
          <a:prstGeom prst="rect">
            <a:avLst/>
          </a:prstGeom>
          <a:noFill/>
        </p:spPr>
        <p:txBody>
          <a:bodyPr wrap="none" lIns="0" tIns="0" rIns="0" bIns="0">
            <a:spAutoFit/>
          </a:bodyPr>
          <a:lstStyle/>
          <a:p>
            <a:pPr>
              <a:defRPr sz="900">
                <a:solidFill>
                  <a:srgbClr val="94A3B8"/>
                </a:solidFill>
                <a:latin typeface="Segoe UI"/>
              </a:defRPr>
            </a:pPr>
            <a:r>
              <a:t>LOANWISER  |  Review 2: Implementation &amp; Results  |  S. Karpagam (24BDS1210) &amp; Shruti Chaturvedi (24BDS1003)</a:t>
            </a:r>
          </a:p>
        </p:txBody>
      </p:sp>
      <p:sp>
        <p:nvSpPr>
          <p:cNvPr id="7" name="TextBox 6"/>
          <p:cNvSpPr txBox="1"/>
          <p:nvPr/>
        </p:nvSpPr>
        <p:spPr>
          <a:xfrm>
            <a:off x="10515600" y="6492240"/>
            <a:ext cx="914400" cy="274320"/>
          </a:xfrm>
          <a:prstGeom prst="rect">
            <a:avLst/>
          </a:prstGeom>
          <a:noFill/>
        </p:spPr>
        <p:txBody>
          <a:bodyPr wrap="none" lIns="0" tIns="0" rIns="0" bIns="0">
            <a:spAutoFit/>
          </a:bodyPr>
          <a:lstStyle/>
          <a:p>
            <a:pPr algn="r">
              <a:defRPr sz="900" b="1">
                <a:solidFill>
                  <a:srgbClr val="38BDF8"/>
                </a:solidFill>
                <a:latin typeface="Segoe UI"/>
              </a:defRPr>
            </a:pPr>
            <a:r>
              <a:t>15 / 15</a:t>
            </a:r>
          </a:p>
        </p:txBody>
      </p:sp>
      <p:sp>
        <p:nvSpPr>
          <p:cNvPr id="8" name="Rounded Rectangle 7"/>
          <p:cNvSpPr/>
          <p:nvPr/>
        </p:nvSpPr>
        <p:spPr>
          <a:xfrm>
            <a:off x="731520" y="1508760"/>
            <a:ext cx="10728655" cy="210312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10332720" cy="1920240"/>
          </a:xfrm>
          <a:prstGeom prst="rect">
            <a:avLst/>
          </a:prstGeom>
          <a:noFill/>
        </p:spPr>
        <p:txBody>
          <a:bodyPr wrap="square">
            <a:spAutoFit/>
          </a:bodyPr>
          <a:lstStyle/>
          <a:p>
            <a:pPr>
              <a:defRPr sz="1200" b="1">
                <a:solidFill>
                  <a:srgbClr val="38BDF8"/>
                </a:solidFill>
                <a:latin typeface="Segoe UI"/>
              </a:defRPr>
            </a:pPr>
            <a:r>
              <a:t>LOANWISER: SUMMARY OF COMPLETED DELIVERABLES</a:t>
            </a:r>
          </a:p>
          <a:p>
            <a:pPr>
              <a:spcBef>
                <a:spcPts val="400"/>
              </a:spcBef>
              <a:defRPr sz="1000" b="1">
                <a:solidFill>
                  <a:srgbClr val="10B981"/>
                </a:solidFill>
                <a:latin typeface="Segoe UI"/>
              </a:defRPr>
            </a:pPr>
            <a:r>
              <a:t>✓ 1. Working R Shiny Application (app.R): </a:t>
            </a:r>
            <a:r>
              <a:rPr b="0">
                <a:solidFill>
                  <a:srgbClr val="CBD5E1"/>
                </a:solidFill>
              </a:rPr>
              <a:t>10 fully functioning interactive tabs providing end-to-end loan analysis, risk scoring, and what-if simulation.</a:t>
            </a:r>
          </a:p>
          <a:p>
            <a:pPr>
              <a:spcBef>
                <a:spcPts val="400"/>
              </a:spcBef>
              <a:defRPr sz="1000" b="1">
                <a:solidFill>
                  <a:srgbClr val="10B981"/>
                </a:solidFill>
                <a:latin typeface="Segoe UI"/>
              </a:defRPr>
            </a:pPr>
            <a:r>
              <a:t>✓ 2. Validated ML Models (models/*.rds): </a:t>
            </a:r>
            <a:r>
              <a:rPr b="0">
                <a:solidFill>
                  <a:srgbClr val="CBD5E1"/>
                </a:solidFill>
              </a:rPr>
              <a:t>Logistic Regression (0.9814 AUC), Random Forest (1.0000 AUC), and XGBoost (1.0000 AUC) trained on Kaggle data with 5-fold CV.</a:t>
            </a:r>
          </a:p>
          <a:p>
            <a:pPr>
              <a:spcBef>
                <a:spcPts val="400"/>
              </a:spcBef>
              <a:defRPr sz="1000" b="1">
                <a:solidFill>
                  <a:srgbClr val="10B981"/>
                </a:solidFill>
                <a:latin typeface="Segoe UI"/>
              </a:defRPr>
            </a:pPr>
            <a:r>
              <a:t>✓ 3. Automated Testing Suite (tests/*.R): </a:t>
            </a:r>
            <a:r>
              <a:rPr b="0">
                <a:solidFill>
                  <a:srgbClr val="CBD5E1"/>
                </a:solidFill>
              </a:rPr>
              <a:t>43/43 unit tests passing (100.0%) covering financial math, solvency ratios, data ingestion, and model inference.</a:t>
            </a:r>
          </a:p>
          <a:p>
            <a:pPr>
              <a:spcBef>
                <a:spcPts val="400"/>
              </a:spcBef>
              <a:defRPr sz="1000" b="1">
                <a:solidFill>
                  <a:srgbClr val="10B981"/>
                </a:solidFill>
                <a:latin typeface="Segoe UI"/>
              </a:defRPr>
            </a:pPr>
            <a:r>
              <a:t>✓ 4. Full Academic Documentation: </a:t>
            </a:r>
            <a:r>
              <a:rPr b="0">
                <a:solidFill>
                  <a:srgbClr val="CBD5E1"/>
                </a:solidFill>
              </a:rPr>
              <a:t>Comprehensive README.md, project_summary.md, and viva_notes.md detailing mathematical formulations and code design.</a:t>
            </a:r>
          </a:p>
        </p:txBody>
      </p:sp>
      <p:sp>
        <p:nvSpPr>
          <p:cNvPr id="10" name="Rounded Rectangle 9"/>
          <p:cNvSpPr/>
          <p:nvPr/>
        </p:nvSpPr>
        <p:spPr>
          <a:xfrm>
            <a:off x="731520" y="3794760"/>
            <a:ext cx="5212080" cy="2423160"/>
          </a:xfrm>
          <a:prstGeom prst="roundRect">
            <a:avLst/>
          </a:prstGeom>
          <a:solidFill>
            <a:srgbClr val="132238"/>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886200"/>
            <a:ext cx="4846320" cy="2240280"/>
          </a:xfrm>
          <a:prstGeom prst="rect">
            <a:avLst/>
          </a:prstGeom>
          <a:noFill/>
        </p:spPr>
        <p:txBody>
          <a:bodyPr wrap="square">
            <a:spAutoFit/>
          </a:bodyPr>
          <a:lstStyle/>
          <a:p>
            <a:pPr>
              <a:defRPr sz="1100" b="1">
                <a:solidFill>
                  <a:srgbClr val="38BDF8"/>
                </a:solidFill>
                <a:latin typeface="Segoe UI"/>
              </a:defRPr>
            </a:pPr>
            <a:r>
              <a:t>PROJECT AUTHORS &amp; CODE REPOSITORIES</a:t>
            </a:r>
          </a:p>
          <a:p>
            <a:pPr>
              <a:spcBef>
                <a:spcPts val="600"/>
              </a:spcBef>
              <a:defRPr sz="950">
                <a:solidFill>
                  <a:srgbClr val="FFFFFF"/>
                </a:solidFill>
                <a:latin typeface="Segoe UI"/>
              </a:defRPr>
            </a:pPr>
            <a:r>
              <a:t>• S. Karpagam (Reg No: 24BDS1210)</a:t>
            </a:r>
            <a:br/>
            <a:r>
              <a:t>  GitHub: https://github.com/sm-kpg-06</a:t>
            </a:r>
          </a:p>
          <a:p>
            <a:pPr>
              <a:spcBef>
                <a:spcPts val="600"/>
              </a:spcBef>
              <a:defRPr sz="950">
                <a:solidFill>
                  <a:srgbClr val="FFFFFF"/>
                </a:solidFill>
                <a:latin typeface="Segoe UI"/>
              </a:defRPr>
            </a:pPr>
            <a:r>
              <a:t>• Shruti Chaturvedi (Reg No: 24BDS1003)</a:t>
            </a:r>
            <a:br/>
            <a:r>
              <a:t>  GitHub: https://github.com/shrutichaturvedi2024-netizen</a:t>
            </a:r>
          </a:p>
          <a:p>
            <a:pPr>
              <a:spcBef>
                <a:spcPts val="600"/>
              </a:spcBef>
              <a:defRPr sz="900">
                <a:solidFill>
                  <a:srgbClr val="38BDF8"/>
                </a:solidFill>
                <a:latin typeface="Segoe UI"/>
              </a:defRPr>
            </a:pPr>
            <a:r>
              <a:t>• Repository: LOANWISER---Personalized-Loan-Eligibility-Financial-Risk-Analysis-Using-R</a:t>
            </a:r>
          </a:p>
        </p:txBody>
      </p:sp>
      <p:sp>
        <p:nvSpPr>
          <p:cNvPr id="12" name="Rounded Rectangle 11"/>
          <p:cNvSpPr/>
          <p:nvPr/>
        </p:nvSpPr>
        <p:spPr>
          <a:xfrm>
            <a:off x="6248095" y="3794760"/>
            <a:ext cx="5212080" cy="2423160"/>
          </a:xfrm>
          <a:prstGeom prst="roundRect">
            <a:avLst/>
          </a:prstGeom>
          <a:solidFill>
            <a:srgbClr val="132238"/>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0975" y="3977639"/>
            <a:ext cx="4846320" cy="2057400"/>
          </a:xfrm>
          <a:prstGeom prst="rect">
            <a:avLst/>
          </a:prstGeom>
          <a:noFill/>
        </p:spPr>
        <p:txBody>
          <a:bodyPr wrap="square">
            <a:spAutoFit/>
          </a:bodyPr>
          <a:lstStyle/>
          <a:p>
            <a:pPr algn="ctr">
              <a:defRPr sz="2800" b="1">
                <a:solidFill>
                  <a:srgbClr val="38BDF8"/>
                </a:solidFill>
                <a:latin typeface="Segoe UI"/>
              </a:defRPr>
            </a:pPr>
            <a:r>
              <a:t>THANK YOU!</a:t>
            </a:r>
          </a:p>
          <a:p>
            <a:pPr algn="ctr">
              <a:spcBef>
                <a:spcPts val="1000"/>
              </a:spcBef>
              <a:defRPr sz="1050">
                <a:solidFill>
                  <a:srgbClr val="CBD5E1"/>
                </a:solidFill>
                <a:latin typeface="Segoe UI"/>
              </a:defRPr>
            </a:pPr>
            <a:r>
              <a:t>We express our sincere gratitude to our course faculty for guidance and mentorship throughout this project.</a:t>
            </a:r>
          </a:p>
          <a:p>
            <a:pPr algn="ctr">
              <a:spcBef>
                <a:spcPts val="1400"/>
              </a:spcBef>
              <a:defRPr sz="1300" b="1">
                <a:solidFill>
                  <a:srgbClr val="10B981"/>
                </a:solidFill>
                <a:latin typeface="Segoe UI"/>
              </a:defRPr>
            </a:pPr>
            <a:r>
              <a:t>Questions &amp; Technical Discussion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